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Montserrat SemiBold"/>
      <p:regular r:id="rId25"/>
      <p:bold r:id="rId26"/>
      <p:italic r:id="rId27"/>
      <p:boldItalic r:id="rId28"/>
    </p:embeddedFont>
    <p:embeddedFont>
      <p:font typeface="Montserra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guide id="2" orient="horz" pos="9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 pos="9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SemiBold-bold.fntdata"/><Relationship Id="rId25" Type="http://schemas.openxmlformats.org/officeDocument/2006/relationships/font" Target="fonts/MontserratSemiBold-regular.fntdata"/><Relationship Id="rId28" Type="http://schemas.openxmlformats.org/officeDocument/2006/relationships/font" Target="fonts/MontserratSemiBold-boldItalic.fntdata"/><Relationship Id="rId27" Type="http://schemas.openxmlformats.org/officeDocument/2006/relationships/font" Target="fonts/Montserrat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030719b8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030719b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030719b8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030719b8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030719b8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030719b8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first paper is titled, </a:t>
            </a:r>
            <a:r>
              <a:rPr b="1" lang="en-GB">
                <a:solidFill>
                  <a:schemeClr val="dk1"/>
                </a:solidFill>
              </a:rPr>
              <a:t>'Attention is all you need'</a:t>
            </a:r>
            <a:r>
              <a:rPr lang="en-GB">
                <a:solidFill>
                  <a:schemeClr val="dk1"/>
                </a:solidFill>
              </a:rPr>
              <a:t>, and it is the foundational work for modern Large Language Models and, by extension, our RAG system.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The Problem Addressed</a:t>
            </a:r>
            <a:r>
              <a:rPr lang="en-GB">
                <a:solidFill>
                  <a:schemeClr val="dk1"/>
                </a:solidFill>
              </a:rPr>
              <a:t> was that earlier AI models processed text step-by-step, or sequentially, which was very slow and struggled particularly with long sentences.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Method Used</a:t>
            </a:r>
            <a:r>
              <a:rPr lang="en-GB">
                <a:solidFill>
                  <a:schemeClr val="dk1"/>
                </a:solidFill>
              </a:rPr>
              <a:t> introduced the </a:t>
            </a:r>
            <a:r>
              <a:rPr b="1" lang="en-GB">
                <a:solidFill>
                  <a:schemeClr val="dk1"/>
                </a:solidFill>
              </a:rPr>
              <a:t>Transformer model</a:t>
            </a:r>
            <a:r>
              <a:rPr lang="en-GB">
                <a:solidFill>
                  <a:schemeClr val="dk1"/>
                </a:solidFill>
              </a:rPr>
              <a:t>, which understands text by using an </a:t>
            </a:r>
            <a:r>
              <a:rPr b="1" lang="en-GB">
                <a:solidFill>
                  <a:schemeClr val="dk1"/>
                </a:solidFill>
              </a:rPr>
              <a:t>attention mechanism</a:t>
            </a:r>
            <a:r>
              <a:rPr lang="en-GB">
                <a:solidFill>
                  <a:schemeClr val="dk1"/>
                </a:solidFill>
              </a:rPr>
              <a:t> instead of that slow sequential processing. Attention helps the model focus on the most important words and their relationships within the sentence.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Key Results</a:t>
            </a:r>
            <a:r>
              <a:rPr lang="en-GB">
                <a:solidFill>
                  <a:schemeClr val="dk1"/>
                </a:solidFill>
              </a:rPr>
              <a:t> were clear: the model achieved </a:t>
            </a:r>
            <a:r>
              <a:rPr b="1" lang="en-GB">
                <a:solidFill>
                  <a:schemeClr val="dk1"/>
                </a:solidFill>
              </a:rPr>
              <a:t>better accuracy</a:t>
            </a:r>
            <a:r>
              <a:rPr lang="en-GB">
                <a:solidFill>
                  <a:schemeClr val="dk1"/>
                </a:solidFill>
              </a:rPr>
              <a:t> than older models and was trained </a:t>
            </a:r>
            <a:r>
              <a:rPr b="1" lang="en-GB">
                <a:solidFill>
                  <a:schemeClr val="dk1"/>
                </a:solidFill>
              </a:rPr>
              <a:t>faster and at lower cost</a:t>
            </a:r>
            <a:r>
              <a:rPr lang="en-GB">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Relevance to Our Project</a:t>
            </a:r>
            <a:r>
              <a:rPr lang="en-GB">
                <a:solidFill>
                  <a:schemeClr val="dk1"/>
                </a:solidFill>
              </a:rPr>
              <a:t> is that this paper is the </a:t>
            </a:r>
            <a:r>
              <a:rPr b="1" lang="en-GB">
                <a:solidFill>
                  <a:schemeClr val="dk1"/>
                </a:solidFill>
              </a:rPr>
              <a:t>foundation of modern LLMs</a:t>
            </a:r>
            <a:r>
              <a:rPr lang="en-GB">
                <a:solidFill>
                  <a:schemeClr val="dk1"/>
                </a:solidFill>
              </a:rPr>
              <a:t> used in RAG systems. The attention mechanism is critical—it helps our system retrieve the </a:t>
            </a:r>
            <a:r>
              <a:rPr b="1" lang="en-GB">
                <a:solidFill>
                  <a:schemeClr val="dk1"/>
                </a:solidFill>
              </a:rPr>
              <a:t>most relevant information</a:t>
            </a:r>
            <a:r>
              <a:rPr lang="en-GB">
                <a:solidFill>
                  <a:schemeClr val="dk1"/>
                </a:solidFill>
              </a:rPr>
              <a:t> and enables better reasoning in our AI agents."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030719b8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030719b8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(Slide 4: Literature Summary #2 - RAG for NLP Intensive Tasks)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second summary focuses on the paper that defines the </a:t>
            </a:r>
            <a:r>
              <a:rPr b="1" lang="en-GB">
                <a:solidFill>
                  <a:schemeClr val="dk1"/>
                </a:solidFill>
              </a:rPr>
              <a:t>core of our project</a:t>
            </a:r>
            <a:r>
              <a:rPr lang="en-GB">
                <a:solidFill>
                  <a:schemeClr val="dk1"/>
                </a:solidFill>
              </a:rPr>
              <a:t>: </a:t>
            </a:r>
            <a:r>
              <a:rPr b="1" lang="en-GB">
                <a:solidFill>
                  <a:schemeClr val="dk1"/>
                </a:solidFill>
              </a:rPr>
              <a:t>Retrieval-Augmented Generation</a:t>
            </a:r>
            <a:r>
              <a:rPr lang="en-GB">
                <a:solidFill>
                  <a:schemeClr val="dk1"/>
                </a:solidFill>
              </a:rPr>
              <a:t>, or RAG.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The Problem Addressed</a:t>
            </a:r>
            <a:r>
              <a:rPr lang="en-GB">
                <a:solidFill>
                  <a:schemeClr val="dk1"/>
                </a:solidFill>
              </a:rPr>
              <a:t> was that traditional language models often gave outdated or incorrect answers because they only relied on what they learned during training and couldn't reference external, factual knowledge.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Method Used</a:t>
            </a:r>
            <a:r>
              <a:rPr lang="en-GB">
                <a:solidFill>
                  <a:schemeClr val="dk1"/>
                </a:solidFill>
              </a:rPr>
              <a:t> introduced RAG, which combines </a:t>
            </a:r>
            <a:r>
              <a:rPr b="1" lang="en-GB">
                <a:solidFill>
                  <a:schemeClr val="dk1"/>
                </a:solidFill>
              </a:rPr>
              <a:t>document retrieval</a:t>
            </a:r>
            <a:r>
              <a:rPr lang="en-GB">
                <a:solidFill>
                  <a:schemeClr val="dk1"/>
                </a:solidFill>
              </a:rPr>
              <a:t> from an external knowledge base with </a:t>
            </a:r>
            <a:r>
              <a:rPr b="1" lang="en-GB">
                <a:solidFill>
                  <a:schemeClr val="dk1"/>
                </a:solidFill>
              </a:rPr>
              <a:t>text generation</a:t>
            </a:r>
            <a:r>
              <a:rPr lang="en-GB">
                <a:solidFill>
                  <a:schemeClr val="dk1"/>
                </a:solidFill>
              </a:rPr>
              <a:t> to produce more accurate answers. Essentially, the model first retrieves relevant documents, and </a:t>
            </a:r>
            <a:r>
              <a:rPr i="1" lang="en-GB">
                <a:solidFill>
                  <a:schemeClr val="dk1"/>
                </a:solidFill>
              </a:rPr>
              <a:t>then</a:t>
            </a:r>
            <a:r>
              <a:rPr lang="en-GB">
                <a:solidFill>
                  <a:schemeClr val="dk1"/>
                </a:solidFill>
              </a:rPr>
              <a:t> uses that retrieved information to generate the final response.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Key Results</a:t>
            </a:r>
            <a:r>
              <a:rPr lang="en-GB">
                <a:solidFill>
                  <a:schemeClr val="dk1"/>
                </a:solidFill>
              </a:rPr>
              <a:t> showed that RAG models performed </a:t>
            </a:r>
            <a:r>
              <a:rPr b="1" lang="en-GB">
                <a:solidFill>
                  <a:schemeClr val="dk1"/>
                </a:solidFill>
              </a:rPr>
              <a:t>better than traditional language models</a:t>
            </a:r>
            <a:r>
              <a:rPr lang="en-GB">
                <a:solidFill>
                  <a:schemeClr val="dk1"/>
                </a:solidFill>
              </a:rPr>
              <a:t>, especially on tasks requiring factual or external knowledge.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Relevance to Our Project</a:t>
            </a:r>
            <a:r>
              <a:rPr lang="en-GB">
                <a:solidFill>
                  <a:schemeClr val="dk1"/>
                </a:solidFill>
              </a:rPr>
              <a:t> is that this paper is the </a:t>
            </a:r>
            <a:r>
              <a:rPr b="1" lang="en-GB">
                <a:solidFill>
                  <a:schemeClr val="dk1"/>
                </a:solidFill>
              </a:rPr>
              <a:t>core foundation</a:t>
            </a:r>
            <a:r>
              <a:rPr lang="en-GB">
                <a:solidFill>
                  <a:schemeClr val="dk1"/>
                </a:solidFill>
              </a:rPr>
              <a:t> of our system. Combining retrieval with generation leads to more </a:t>
            </a:r>
            <a:r>
              <a:rPr b="1" lang="en-GB">
                <a:solidFill>
                  <a:schemeClr val="dk1"/>
                </a:solidFill>
              </a:rPr>
              <a:t>reliable, explainable, and up-to-date responses</a:t>
            </a:r>
            <a:r>
              <a:rPr lang="en-GB">
                <a:solidFill>
                  <a:schemeClr val="dk1"/>
                </a:solidFill>
              </a:rPr>
              <a:t> , which allows our agents to generate personalized, knowledge-grounded recommendations."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030719b8d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030719b8d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Slide 5: Literature Summary #3 - Embeddings &amp; Doc Vectors)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summary reinforces the importance of the attention mechanism, specifically in the context of creating effective document representations, or 'embeddings'.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The Problem Addressed</a:t>
            </a:r>
            <a:r>
              <a:rPr lang="en-GB">
                <a:solidFill>
                  <a:schemeClr val="dk1"/>
                </a:solidFill>
              </a:rPr>
              <a:t> was that earlier translation models tried to compress an entire sentence into a single fixed representation, which caused </a:t>
            </a:r>
            <a:r>
              <a:rPr b="1" lang="en-GB">
                <a:solidFill>
                  <a:schemeClr val="dk1"/>
                </a:solidFill>
              </a:rPr>
              <a:t>information loss</a:t>
            </a:r>
            <a:r>
              <a:rPr lang="en-GB">
                <a:solidFill>
                  <a:schemeClr val="dk1"/>
                </a:solidFill>
              </a:rPr>
              <a:t>, especially with long sentences.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Method Used</a:t>
            </a:r>
            <a:r>
              <a:rPr lang="en-GB">
                <a:solidFill>
                  <a:schemeClr val="dk1"/>
                </a:solidFill>
              </a:rPr>
              <a:t> highlighted how the </a:t>
            </a:r>
            <a:r>
              <a:rPr b="1" lang="en-GB">
                <a:solidFill>
                  <a:schemeClr val="dk1"/>
                </a:solidFill>
              </a:rPr>
              <a:t>Attention mechanism</a:t>
            </a:r>
            <a:r>
              <a:rPr lang="en-GB">
                <a:solidFill>
                  <a:schemeClr val="dk1"/>
                </a:solidFill>
              </a:rPr>
              <a:t> allows the model to focus on different parts of the input sentence while generating each word. Instead of remembering everything at once, the model 'looks back' at relevant words in the source sentence.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Key Results</a:t>
            </a:r>
            <a:r>
              <a:rPr lang="en-GB">
                <a:solidFill>
                  <a:schemeClr val="dk1"/>
                </a:solidFill>
              </a:rPr>
              <a:t> demonstrated that attention-based models produced </a:t>
            </a:r>
            <a:r>
              <a:rPr b="1" lang="en-GB">
                <a:solidFill>
                  <a:schemeClr val="dk1"/>
                </a:solidFill>
              </a:rPr>
              <a:t>more accurate translations</a:t>
            </a:r>
            <a:r>
              <a:rPr lang="en-GB">
                <a:solidFill>
                  <a:schemeClr val="dk1"/>
                </a:solidFill>
              </a:rPr>
              <a:t>, particularly for long and complex sentences.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Relevance to Our Project</a:t>
            </a:r>
            <a:r>
              <a:rPr lang="en-GB">
                <a:solidFill>
                  <a:schemeClr val="dk1"/>
                </a:solidFill>
              </a:rPr>
              <a:t> is that Attention helps our AI system focus on the </a:t>
            </a:r>
            <a:r>
              <a:rPr b="1" lang="en-GB">
                <a:solidFill>
                  <a:schemeClr val="dk1"/>
                </a:solidFill>
              </a:rPr>
              <a:t>most relevant information</a:t>
            </a:r>
            <a:r>
              <a:rPr lang="en-GB">
                <a:solidFill>
                  <a:schemeClr val="dk1"/>
                </a:solidFill>
              </a:rPr>
              <a:t>, which is absolutely essential for effective document retrieval, reasoning, and, ultimately, personalized recommendations in our RAG system."</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030719b8d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030719b8d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(Slide 6: Literature Summary #4 - Agentic AI: Reasoning &amp; Acting)</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fourth summary introduces the concept of </a:t>
            </a:r>
            <a:r>
              <a:rPr b="1" lang="en-GB">
                <a:solidFill>
                  <a:schemeClr val="dk1"/>
                </a:solidFill>
              </a:rPr>
              <a:t>Agentic AI</a:t>
            </a:r>
            <a:r>
              <a:rPr lang="en-GB">
                <a:solidFill>
                  <a:schemeClr val="dk1"/>
                </a:solidFill>
              </a:rPr>
              <a:t>, which defines how our RAG system will </a:t>
            </a:r>
            <a:r>
              <a:rPr i="1" lang="en-GB">
                <a:solidFill>
                  <a:schemeClr val="dk1"/>
                </a:solidFill>
              </a:rPr>
              <a:t>operate</a:t>
            </a:r>
            <a:r>
              <a:rPr lang="en-GB">
                <a:solidFill>
                  <a:schemeClr val="dk1"/>
                </a:solidFill>
              </a:rPr>
              <a:t> and </a:t>
            </a:r>
            <a:r>
              <a:rPr i="1" lang="en-GB">
                <a:solidFill>
                  <a:schemeClr val="dk1"/>
                </a:solidFill>
              </a:rPr>
              <a:t>act</a:t>
            </a:r>
            <a:r>
              <a:rPr lang="en-GB">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The Problem Addressed</a:t>
            </a:r>
            <a:r>
              <a:rPr lang="en-GB">
                <a:solidFill>
                  <a:schemeClr val="dk1"/>
                </a:solidFill>
              </a:rPr>
              <a:t> was that traditional language models either reason internally or take actions, but not both, which limits their ability to solve complex, real-world tasks.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Method Used</a:t>
            </a:r>
            <a:r>
              <a:rPr lang="en-GB">
                <a:solidFill>
                  <a:schemeClr val="dk1"/>
                </a:solidFill>
              </a:rPr>
              <a:t> introduced </a:t>
            </a:r>
            <a:r>
              <a:rPr b="1" lang="en-GB">
                <a:solidFill>
                  <a:schemeClr val="dk1"/>
                </a:solidFill>
              </a:rPr>
              <a:t>ReAct</a:t>
            </a:r>
            <a:r>
              <a:rPr lang="en-GB">
                <a:solidFill>
                  <a:schemeClr val="dk1"/>
                </a:solidFill>
              </a:rPr>
              <a:t>, a framework that combines </a:t>
            </a:r>
            <a:r>
              <a:rPr b="1" lang="en-GB">
                <a:solidFill>
                  <a:schemeClr val="dk1"/>
                </a:solidFill>
              </a:rPr>
              <a:t>reasoning steps (thinking)</a:t>
            </a:r>
            <a:r>
              <a:rPr lang="en-GB">
                <a:solidFill>
                  <a:schemeClr val="dk1"/>
                </a:solidFill>
              </a:rPr>
              <a:t> with </a:t>
            </a:r>
            <a:r>
              <a:rPr b="1" lang="en-GB">
                <a:solidFill>
                  <a:schemeClr val="dk1"/>
                </a:solidFill>
              </a:rPr>
              <a:t>actions (tool use or environment interaction)</a:t>
            </a:r>
            <a:r>
              <a:rPr lang="en-GB">
                <a:solidFill>
                  <a:schemeClr val="dk1"/>
                </a:solidFill>
              </a:rPr>
              <a:t>. The model essentially alternates between 'thinking out loud' and taking actions like searching or retrieving information.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Key Results</a:t>
            </a:r>
            <a:r>
              <a:rPr lang="en-GB">
                <a:solidFill>
                  <a:schemeClr val="dk1"/>
                </a:solidFill>
              </a:rPr>
              <a:t> showed that ReAct </a:t>
            </a:r>
            <a:r>
              <a:rPr b="1" lang="en-GB">
                <a:solidFill>
                  <a:schemeClr val="dk1"/>
                </a:solidFill>
              </a:rPr>
              <a:t>outperformed models</a:t>
            </a:r>
            <a:r>
              <a:rPr lang="en-GB">
                <a:solidFill>
                  <a:schemeClr val="dk1"/>
                </a:solidFill>
              </a:rPr>
              <a:t> that only reasoned or only acted, especially on multi-step and knowledge-intensive tasks.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Relevance to Our Project</a:t>
            </a:r>
            <a:r>
              <a:rPr lang="en-GB">
                <a:solidFill>
                  <a:schemeClr val="dk1"/>
                </a:solidFill>
              </a:rPr>
              <a:t> is that ReAct directly supports our goal of </a:t>
            </a:r>
            <a:r>
              <a:rPr b="1" lang="en-GB">
                <a:solidFill>
                  <a:schemeClr val="dk1"/>
                </a:solidFill>
              </a:rPr>
              <a:t>Agentic AI</a:t>
            </a:r>
            <a:r>
              <a:rPr lang="en-GB">
                <a:solidFill>
                  <a:schemeClr val="dk1"/>
                </a:solidFill>
              </a:rPr>
              <a:t>. Our agents will </a:t>
            </a:r>
            <a:r>
              <a:rPr b="1" lang="en-GB">
                <a:solidFill>
                  <a:schemeClr val="dk1"/>
                </a:solidFill>
              </a:rPr>
              <a:t>reason</a:t>
            </a:r>
            <a:r>
              <a:rPr lang="en-GB">
                <a:solidFill>
                  <a:schemeClr val="dk1"/>
                </a:solidFill>
              </a:rPr>
              <a:t> on a user's query, </a:t>
            </a:r>
            <a:r>
              <a:rPr b="1" lang="en-GB">
                <a:solidFill>
                  <a:schemeClr val="dk1"/>
                </a:solidFill>
              </a:rPr>
              <a:t>retrieve information (RAG)</a:t>
            </a:r>
            <a:r>
              <a:rPr lang="en-GB">
                <a:solidFill>
                  <a:schemeClr val="dk1"/>
                </a:solidFill>
              </a:rPr>
              <a:t>, and </a:t>
            </a:r>
            <a:r>
              <a:rPr b="1" lang="en-GB">
                <a:solidFill>
                  <a:schemeClr val="dk1"/>
                </a:solidFill>
              </a:rPr>
              <a:t>take actions</a:t>
            </a:r>
            <a:r>
              <a:rPr lang="en-GB">
                <a:solidFill>
                  <a:schemeClr val="dk1"/>
                </a:solidFill>
              </a:rPr>
              <a:t> to generate a final, superior recommendation."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030719b8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030719b8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(Slide 7: Literature Summary #5 - Summarize + RHLF)</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paper focuses on ensuring the output of our AI system is aligned with human quality standards, introducing </a:t>
            </a:r>
            <a:r>
              <a:rPr b="1" lang="en-GB">
                <a:solidFill>
                  <a:schemeClr val="dk1"/>
                </a:solidFill>
              </a:rPr>
              <a:t>training with human feedback</a:t>
            </a:r>
            <a:r>
              <a:rPr lang="en-GB">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The Problem Addressed</a:t>
            </a:r>
            <a:r>
              <a:rPr lang="en-GB">
                <a:solidFill>
                  <a:schemeClr val="dk1"/>
                </a:solidFill>
              </a:rPr>
              <a:t> was that traditional text summarization models often produce summaries that are </a:t>
            </a:r>
            <a:r>
              <a:rPr b="1" lang="en-GB">
                <a:solidFill>
                  <a:schemeClr val="dk1"/>
                </a:solidFill>
              </a:rPr>
              <a:t>factually incorrect, repetitive, or misaligned with human expectations</a:t>
            </a:r>
            <a:r>
              <a:rPr lang="en-GB">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Method Used</a:t>
            </a:r>
            <a:r>
              <a:rPr lang="en-GB">
                <a:solidFill>
                  <a:schemeClr val="dk1"/>
                </a:solidFill>
              </a:rPr>
              <a:t> introduced </a:t>
            </a:r>
            <a:r>
              <a:rPr b="1" lang="en-GB">
                <a:solidFill>
                  <a:schemeClr val="dk1"/>
                </a:solidFill>
              </a:rPr>
              <a:t>training with human feedback</a:t>
            </a:r>
            <a:r>
              <a:rPr lang="en-GB">
                <a:solidFill>
                  <a:schemeClr val="dk1"/>
                </a:solidFill>
              </a:rPr>
              <a:t>, where humans compare multiple summaries and indicate which one is better. This feedback is used to teach a reward model what a good summary looks like.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Key Results</a:t>
            </a:r>
            <a:r>
              <a:rPr lang="en-GB">
                <a:solidFill>
                  <a:schemeClr val="dk1"/>
                </a:solidFill>
              </a:rPr>
              <a:t> showed that models trained with human feedback produced </a:t>
            </a:r>
            <a:r>
              <a:rPr b="1" lang="en-GB">
                <a:solidFill>
                  <a:schemeClr val="dk1"/>
                </a:solidFill>
              </a:rPr>
              <a:t>clearer, more accurate, and more human-like summaries</a:t>
            </a:r>
            <a:r>
              <a:rPr lang="en-GB">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Relevance to Our Project</a:t>
            </a:r>
            <a:r>
              <a:rPr lang="en-GB">
                <a:solidFill>
                  <a:schemeClr val="dk1"/>
                </a:solidFill>
              </a:rPr>
              <a:t> is that human feedback can help improve </a:t>
            </a:r>
            <a:r>
              <a:rPr b="1" lang="en-GB">
                <a:solidFill>
                  <a:schemeClr val="dk1"/>
                </a:solidFill>
              </a:rPr>
              <a:t>recommendation quality, relevance, and trustworthiness</a:t>
            </a:r>
            <a:r>
              <a:rPr lang="en-GB">
                <a:solidFill>
                  <a:schemeClr val="dk1"/>
                </a:solidFill>
              </a:rPr>
              <a:t> in our RAG-based agent system. This justifies our plan to simulate a user feedback loop in the final weeks of development."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030719b8d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030719b8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(Slide 8: Literature Summary #6 - E-commerce - Sentiment Analysis)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final summary is a paper directly addressing </a:t>
            </a:r>
            <a:r>
              <a:rPr b="1" lang="en-GB">
                <a:solidFill>
                  <a:schemeClr val="dk1"/>
                </a:solidFill>
              </a:rPr>
              <a:t>E-commerce data and sentiment analysis</a:t>
            </a:r>
            <a:r>
              <a:rPr lang="en-GB">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The Problem Addressed</a:t>
            </a:r>
            <a:r>
              <a:rPr lang="en-GB">
                <a:solidFill>
                  <a:schemeClr val="dk1"/>
                </a:solidFill>
              </a:rPr>
              <a:t> was that existing sentiment analysis models struggled with </a:t>
            </a:r>
            <a:r>
              <a:rPr b="1" lang="en-GB">
                <a:solidFill>
                  <a:schemeClr val="dk1"/>
                </a:solidFill>
              </a:rPr>
              <a:t>long, complex reviews, varied writing styles, and irrelevant words</a:t>
            </a:r>
            <a:r>
              <a:rPr lang="en-GB">
                <a:solidFill>
                  <a:schemeClr val="dk1"/>
                </a:solidFill>
              </a:rPr>
              <a:t>, leading to inaccurate predictions.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Method Used</a:t>
            </a:r>
            <a:r>
              <a:rPr lang="en-GB">
                <a:solidFill>
                  <a:schemeClr val="dk1"/>
                </a:solidFill>
              </a:rPr>
              <a:t> proposed a </a:t>
            </a:r>
            <a:r>
              <a:rPr b="1" lang="en-GB">
                <a:solidFill>
                  <a:schemeClr val="dk1"/>
                </a:solidFill>
              </a:rPr>
              <a:t>hybrid deep learning model (EGJO-LSTM)</a:t>
            </a:r>
            <a:r>
              <a:rPr lang="en-GB">
                <a:solidFill>
                  <a:schemeClr val="dk1"/>
                </a:solidFill>
              </a:rPr>
              <a:t> that combined optimization techniques with an LSTM model. It cleaned customer reviews, gave more weight to important words, and removed irrelevant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Key Results</a:t>
            </a:r>
            <a:r>
              <a:rPr lang="en-GB">
                <a:solidFill>
                  <a:schemeClr val="dk1"/>
                </a:solidFill>
              </a:rPr>
              <a:t> were excellent, achieving a </a:t>
            </a:r>
            <a:r>
              <a:rPr b="1" lang="en-GB">
                <a:solidFill>
                  <a:schemeClr val="dk1"/>
                </a:solidFill>
              </a:rPr>
              <a:t>32% improvement in accuracy and 25% improvement in precision</a:t>
            </a:r>
            <a:r>
              <a:rPr lang="en-GB">
                <a:solidFill>
                  <a:schemeClr val="dk1"/>
                </a:solidFill>
              </a:rPr>
              <a:t>, outperforming traditional models.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The Relevance to Our Project</a:t>
            </a:r>
            <a:r>
              <a:rPr lang="en-GB">
                <a:solidFill>
                  <a:schemeClr val="dk1"/>
                </a:solidFill>
              </a:rPr>
              <a:t> is that these sentiment insights can </a:t>
            </a:r>
            <a:r>
              <a:rPr b="1" lang="en-GB">
                <a:solidFill>
                  <a:schemeClr val="dk1"/>
                </a:solidFill>
              </a:rPr>
              <a:t>improve recommendation relevance, user trust, and decision-making</a:t>
            </a:r>
            <a:r>
              <a:rPr lang="en-GB">
                <a:solidFill>
                  <a:schemeClr val="dk1"/>
                </a:solidFill>
              </a:rPr>
              <a:t>. Integrating robust sentiment analysis into our system (Weeks 9-10) will allow us to leverage unstructured customer reviews to inform our personalized recommendations."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030719b8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030719b8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030719b8d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030719b8d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030719b8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030719b8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030719b8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030719b8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030719b8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030719b8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Problem Addressed</a:t>
            </a:r>
            <a:br>
              <a:rPr b="1" lang="en-GB">
                <a:solidFill>
                  <a:schemeClr val="dk1"/>
                </a:solidFill>
              </a:rPr>
            </a:br>
            <a:r>
              <a:rPr lang="en-GB">
                <a:solidFill>
                  <a:schemeClr val="dk1"/>
                </a:solidFill>
              </a:rPr>
              <a:t> Traditional language models rely only on what they learned during training, so they often give </a:t>
            </a:r>
            <a:r>
              <a:rPr b="1" lang="en-GB">
                <a:solidFill>
                  <a:schemeClr val="dk1"/>
                </a:solidFill>
              </a:rPr>
              <a:t>outdated or incorrect answers</a:t>
            </a:r>
            <a:r>
              <a:rPr lang="en-GB">
                <a:solidFill>
                  <a:schemeClr val="dk1"/>
                </a:solidFill>
              </a:rPr>
              <a:t> and cannot reference external knowledge.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Method Used</a:t>
            </a:r>
            <a:br>
              <a:rPr b="1" lang="en-GB">
                <a:solidFill>
                  <a:schemeClr val="dk1"/>
                </a:solidFill>
              </a:rPr>
            </a:br>
            <a:r>
              <a:rPr lang="en-GB">
                <a:solidFill>
                  <a:schemeClr val="dk1"/>
                </a:solidFill>
              </a:rPr>
              <a:t> The paper introduces </a:t>
            </a:r>
            <a:r>
              <a:rPr b="1" lang="en-GB">
                <a:solidFill>
                  <a:schemeClr val="dk1"/>
                </a:solidFill>
              </a:rPr>
              <a:t>Retrieval-Augmented Generation (RAG)</a:t>
            </a:r>
            <a:r>
              <a:rPr lang="en-GB">
                <a:solidFill>
                  <a:schemeClr val="dk1"/>
                </a:solidFill>
              </a:rPr>
              <a:t>, which combines </a:t>
            </a:r>
            <a:r>
              <a:rPr b="1" lang="en-GB">
                <a:solidFill>
                  <a:schemeClr val="dk1"/>
                </a:solidFill>
              </a:rPr>
              <a:t>document retrieval</a:t>
            </a:r>
            <a:r>
              <a:rPr lang="en-GB">
                <a:solidFill>
                  <a:schemeClr val="dk1"/>
                </a:solidFill>
              </a:rPr>
              <a:t> with </a:t>
            </a:r>
            <a:r>
              <a:rPr b="1" lang="en-GB">
                <a:solidFill>
                  <a:schemeClr val="dk1"/>
                </a:solidFill>
              </a:rPr>
              <a:t>text generation</a:t>
            </a:r>
            <a:r>
              <a:rPr lang="en-GB">
                <a:solidFill>
                  <a:schemeClr val="dk1"/>
                </a:solidFill>
              </a:rPr>
              <a:t> to produce more accurate answers.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How It Works (High Level)</a:t>
            </a:r>
            <a:br>
              <a:rPr b="1" lang="en-GB">
                <a:solidFill>
                  <a:schemeClr val="dk1"/>
                </a:solidFill>
              </a:rPr>
            </a:br>
            <a:r>
              <a:rPr lang="en-GB">
                <a:solidFill>
                  <a:schemeClr val="dk1"/>
                </a:solidFill>
              </a:rPr>
              <a:t> First, relevant documents are retrieved from a knowledge base.</a:t>
            </a:r>
            <a:br>
              <a:rPr lang="en-GB">
                <a:solidFill>
                  <a:schemeClr val="dk1"/>
                </a:solidFill>
              </a:rPr>
            </a:br>
            <a:r>
              <a:rPr lang="en-GB">
                <a:solidFill>
                  <a:schemeClr val="dk1"/>
                </a:solidFill>
              </a:rPr>
              <a:t> Then, the language model uses this retrieved information to generate the final response.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Data Used</a:t>
            </a:r>
            <a:br>
              <a:rPr b="1" lang="en-GB">
                <a:solidFill>
                  <a:schemeClr val="dk1"/>
                </a:solidFill>
              </a:rPr>
            </a:br>
            <a:r>
              <a:rPr lang="en-GB">
                <a:solidFill>
                  <a:schemeClr val="dk1"/>
                </a:solidFill>
              </a:rPr>
              <a:t> Large text collections such as </a:t>
            </a:r>
            <a:r>
              <a:rPr b="1" lang="en-GB">
                <a:solidFill>
                  <a:schemeClr val="dk1"/>
                </a:solidFill>
              </a:rPr>
              <a:t>Wikipedia</a:t>
            </a:r>
            <a:r>
              <a:rPr lang="en-GB">
                <a:solidFill>
                  <a:schemeClr val="dk1"/>
                </a:solidFill>
              </a:rPr>
              <a:t> were used as the external knowledge source for retrieval.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Training &amp; Evaluation</a:t>
            </a:r>
            <a:br>
              <a:rPr b="1" lang="en-GB">
                <a:solidFill>
                  <a:schemeClr val="dk1"/>
                </a:solidFill>
              </a:rPr>
            </a:br>
            <a:r>
              <a:rPr lang="en-GB">
                <a:solidFill>
                  <a:schemeClr val="dk1"/>
                </a:solidFill>
              </a:rPr>
              <a:t> The model was trained end-to-end and evaluated on </a:t>
            </a:r>
            <a:r>
              <a:rPr b="1" lang="en-GB">
                <a:solidFill>
                  <a:schemeClr val="dk1"/>
                </a:solidFill>
              </a:rPr>
              <a:t>question-answering and knowledge-based tasks</a:t>
            </a:r>
            <a:r>
              <a:rPr lang="en-GB">
                <a:solidFill>
                  <a:schemeClr val="dk1"/>
                </a:solidFill>
              </a:rPr>
              <a:t> using standard accuracy metrics.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Key Results</a:t>
            </a:r>
            <a:br>
              <a:rPr b="1" lang="en-GB">
                <a:solidFill>
                  <a:schemeClr val="dk1"/>
                </a:solidFill>
              </a:rPr>
            </a:br>
            <a:r>
              <a:rPr lang="en-GB">
                <a:solidFill>
                  <a:schemeClr val="dk1"/>
                </a:solidFill>
              </a:rPr>
              <a:t> RAG models performed </a:t>
            </a:r>
            <a:r>
              <a:rPr b="1" lang="en-GB">
                <a:solidFill>
                  <a:schemeClr val="dk1"/>
                </a:solidFill>
              </a:rPr>
              <a:t>better than traditional language models</a:t>
            </a:r>
            <a:r>
              <a:rPr lang="en-GB">
                <a:solidFill>
                  <a:schemeClr val="dk1"/>
                </a:solidFill>
              </a:rPr>
              <a:t>, especially on tasks requiring factual or external knowledge.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Conclusion</a:t>
            </a:r>
            <a:br>
              <a:rPr b="1" lang="en-GB">
                <a:solidFill>
                  <a:schemeClr val="dk1"/>
                </a:solidFill>
              </a:rPr>
            </a:br>
            <a:r>
              <a:rPr lang="en-GB">
                <a:solidFill>
                  <a:schemeClr val="dk1"/>
                </a:solidFill>
              </a:rPr>
              <a:t> Combining retrieval with generation leads to </a:t>
            </a:r>
            <a:r>
              <a:rPr b="1" lang="en-GB">
                <a:solidFill>
                  <a:schemeClr val="dk1"/>
                </a:solidFill>
              </a:rPr>
              <a:t>more reliable, explainable, and up-to-date responses</a:t>
            </a:r>
            <a:r>
              <a:rPr lang="en-GB">
                <a:solidFill>
                  <a:schemeClr val="dk1"/>
                </a:solidFill>
              </a:rPr>
              <a:t> compared to standalone language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Future Scope</a:t>
            </a:r>
            <a:br>
              <a:rPr b="1" lang="en-GB">
                <a:solidFill>
                  <a:schemeClr val="dk1"/>
                </a:solidFill>
              </a:rPr>
            </a:br>
            <a:r>
              <a:rPr lang="en-GB">
                <a:solidFill>
                  <a:schemeClr val="dk1"/>
                </a:solidFill>
              </a:rPr>
              <a:t> Improving retrieval quality, scaling to larger knowledge bases, and applying RAG to real-world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Relevance to Our Project (RAG &amp; Agentic AI Recommendation System)</a:t>
            </a:r>
            <a:br>
              <a:rPr b="1" lang="en-GB">
                <a:solidFill>
                  <a:schemeClr val="dk1"/>
                </a:solidFill>
              </a:rPr>
            </a:br>
            <a:r>
              <a:rPr lang="en-GB">
                <a:solidFill>
                  <a:schemeClr val="dk1"/>
                </a:solidFill>
              </a:rPr>
              <a:t> This paper forms the </a:t>
            </a:r>
            <a:r>
              <a:rPr b="1" lang="en-GB">
                <a:solidFill>
                  <a:schemeClr val="dk1"/>
                </a:solidFill>
              </a:rPr>
              <a:t>core foundation of our project</a:t>
            </a:r>
            <a:r>
              <a:rPr lang="en-GB">
                <a:solidFill>
                  <a:schemeClr val="dk1"/>
                </a:solidFill>
              </a:rPr>
              <a:t>, where agents retrieve relevant information and generate personalized, knowledge-grounded recommendations.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030719b8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030719b8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Problem Addressed</a:t>
            </a:r>
            <a:br>
              <a:rPr b="1" lang="en-GB">
                <a:solidFill>
                  <a:schemeClr val="dk1"/>
                </a:solidFill>
              </a:rPr>
            </a:br>
            <a:r>
              <a:rPr lang="en-GB">
                <a:solidFill>
                  <a:schemeClr val="dk1"/>
                </a:solidFill>
              </a:rPr>
              <a:t> Earlier translation models tried to compress an entire sentence into a single fixed representation, which caused </a:t>
            </a:r>
            <a:r>
              <a:rPr b="1" lang="en-GB">
                <a:solidFill>
                  <a:schemeClr val="dk1"/>
                </a:solidFill>
              </a:rPr>
              <a:t>information loss</a:t>
            </a:r>
            <a:r>
              <a:rPr lang="en-GB">
                <a:solidFill>
                  <a:schemeClr val="dk1"/>
                </a:solidFill>
              </a:rPr>
              <a:t>, especially for long sentences.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Method Used</a:t>
            </a:r>
            <a:br>
              <a:rPr b="1" lang="en-GB">
                <a:solidFill>
                  <a:schemeClr val="dk1"/>
                </a:solidFill>
              </a:rPr>
            </a:br>
            <a:r>
              <a:rPr lang="en-GB">
                <a:solidFill>
                  <a:schemeClr val="dk1"/>
                </a:solidFill>
              </a:rPr>
              <a:t> The paper introduced the </a:t>
            </a:r>
            <a:r>
              <a:rPr b="1" lang="en-GB">
                <a:solidFill>
                  <a:schemeClr val="dk1"/>
                </a:solidFill>
              </a:rPr>
              <a:t>Attention mechanism</a:t>
            </a:r>
            <a:r>
              <a:rPr lang="en-GB">
                <a:solidFill>
                  <a:schemeClr val="dk1"/>
                </a:solidFill>
              </a:rPr>
              <a:t>, allowing the model to focus on </a:t>
            </a:r>
            <a:r>
              <a:rPr b="1" lang="en-GB">
                <a:solidFill>
                  <a:schemeClr val="dk1"/>
                </a:solidFill>
              </a:rPr>
              <a:t>different parts of the input sentence</a:t>
            </a:r>
            <a:r>
              <a:rPr lang="en-GB">
                <a:solidFill>
                  <a:schemeClr val="dk1"/>
                </a:solidFill>
              </a:rPr>
              <a:t> while generating each word.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How It Works (High Level)</a:t>
            </a:r>
            <a:br>
              <a:rPr b="1" lang="en-GB">
                <a:solidFill>
                  <a:schemeClr val="dk1"/>
                </a:solidFill>
              </a:rPr>
            </a:br>
            <a:r>
              <a:rPr lang="en-GB">
                <a:solidFill>
                  <a:schemeClr val="dk1"/>
                </a:solidFill>
              </a:rPr>
              <a:t> Instead of remembering everything at once, the model </a:t>
            </a:r>
            <a:r>
              <a:rPr b="1" lang="en-GB">
                <a:solidFill>
                  <a:schemeClr val="dk1"/>
                </a:solidFill>
              </a:rPr>
              <a:t>looks back at relevant words</a:t>
            </a:r>
            <a:r>
              <a:rPr lang="en-GB">
                <a:solidFill>
                  <a:schemeClr val="dk1"/>
                </a:solidFill>
              </a:rPr>
              <a:t> in the source sentence during translation.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Data Used</a:t>
            </a:r>
            <a:br>
              <a:rPr b="1" lang="en-GB">
                <a:solidFill>
                  <a:schemeClr val="dk1"/>
                </a:solidFill>
              </a:rPr>
            </a:br>
            <a:r>
              <a:rPr lang="en-GB">
                <a:solidFill>
                  <a:schemeClr val="dk1"/>
                </a:solidFill>
              </a:rPr>
              <a:t> Standard </a:t>
            </a:r>
            <a:r>
              <a:rPr b="1" lang="en-GB">
                <a:solidFill>
                  <a:schemeClr val="dk1"/>
                </a:solidFill>
              </a:rPr>
              <a:t>machine translation datasets</a:t>
            </a:r>
            <a:r>
              <a:rPr lang="en-GB">
                <a:solidFill>
                  <a:schemeClr val="dk1"/>
                </a:solidFill>
              </a:rPr>
              <a:t> with paired source and target language sentences.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Training &amp; Evaluation</a:t>
            </a:r>
            <a:br>
              <a:rPr b="1" lang="en-GB">
                <a:solidFill>
                  <a:schemeClr val="dk1"/>
                </a:solidFill>
              </a:rPr>
            </a:br>
            <a:r>
              <a:rPr lang="en-GB">
                <a:solidFill>
                  <a:schemeClr val="dk1"/>
                </a:solidFill>
              </a:rPr>
              <a:t> The model was trained using neural networks and evaluated using </a:t>
            </a:r>
            <a:r>
              <a:rPr b="1" lang="en-GB">
                <a:solidFill>
                  <a:schemeClr val="dk1"/>
                </a:solidFill>
              </a:rPr>
              <a:t>translation accuracy metrics</a:t>
            </a:r>
            <a:r>
              <a:rPr lang="en-GB">
                <a:solidFill>
                  <a:schemeClr val="dk1"/>
                </a:solidFill>
              </a:rPr>
              <a:t> like BLEU score.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Key Results</a:t>
            </a:r>
            <a:br>
              <a:rPr b="1" lang="en-GB">
                <a:solidFill>
                  <a:schemeClr val="dk1"/>
                </a:solidFill>
              </a:rPr>
            </a:br>
            <a:r>
              <a:rPr lang="en-GB">
                <a:solidFill>
                  <a:schemeClr val="dk1"/>
                </a:solidFill>
              </a:rPr>
              <a:t> Attention-based models produced </a:t>
            </a:r>
            <a:r>
              <a:rPr b="1" lang="en-GB">
                <a:solidFill>
                  <a:schemeClr val="dk1"/>
                </a:solidFill>
              </a:rPr>
              <a:t>more accurate translations</a:t>
            </a:r>
            <a:r>
              <a:rPr lang="en-GB">
                <a:solidFill>
                  <a:schemeClr val="dk1"/>
                </a:solidFill>
              </a:rPr>
              <a:t>, especially for </a:t>
            </a:r>
            <a:r>
              <a:rPr b="1" lang="en-GB">
                <a:solidFill>
                  <a:schemeClr val="dk1"/>
                </a:solidFill>
              </a:rPr>
              <a:t>long and complex sentences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Conclusion</a:t>
            </a:r>
            <a:br>
              <a:rPr b="1" lang="en-GB">
                <a:solidFill>
                  <a:schemeClr val="dk1"/>
                </a:solidFill>
              </a:rPr>
            </a:br>
            <a:r>
              <a:rPr lang="en-GB">
                <a:solidFill>
                  <a:schemeClr val="dk1"/>
                </a:solidFill>
              </a:rPr>
              <a:t> Allowing the model to “pay attention” during translation significantly improves performance and reduces information loss.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Future Scope</a:t>
            </a:r>
            <a:br>
              <a:rPr b="1" lang="en-GB">
                <a:solidFill>
                  <a:schemeClr val="dk1"/>
                </a:solidFill>
              </a:rPr>
            </a:br>
            <a:r>
              <a:rPr lang="en-GB">
                <a:solidFill>
                  <a:schemeClr val="dk1"/>
                </a:solidFill>
              </a:rPr>
              <a:t> Applying attention to other NLP tasks like summarization, question answering, and document understanding.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Relevance to Our Project (RAG &amp; Agentic AI Recommendation System)</a:t>
            </a:r>
            <a:br>
              <a:rPr b="1" lang="en-GB">
                <a:solidFill>
                  <a:schemeClr val="dk1"/>
                </a:solidFill>
              </a:rPr>
            </a:br>
            <a:r>
              <a:rPr lang="en-GB">
                <a:solidFill>
                  <a:schemeClr val="dk1"/>
                </a:solidFill>
              </a:rPr>
              <a:t> Attention helps AI systems </a:t>
            </a:r>
            <a:r>
              <a:rPr b="1" lang="en-GB">
                <a:solidFill>
                  <a:schemeClr val="dk1"/>
                </a:solidFill>
              </a:rPr>
              <a:t>focus on the most relevant information</a:t>
            </a:r>
            <a:r>
              <a:rPr lang="en-GB">
                <a:solidFill>
                  <a:schemeClr val="dk1"/>
                </a:solidFill>
              </a:rPr>
              <a:t>, which is essential for document retrieval, reasoning, and personalized recommendations.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030719b8d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030719b8d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Problem Addressed</a:t>
            </a:r>
            <a:br>
              <a:rPr b="1" lang="en-GB">
                <a:solidFill>
                  <a:schemeClr val="dk1"/>
                </a:solidFill>
              </a:rPr>
            </a:br>
            <a:r>
              <a:rPr lang="en-GB">
                <a:solidFill>
                  <a:schemeClr val="dk1"/>
                </a:solidFill>
              </a:rPr>
              <a:t> Traditional language models either </a:t>
            </a:r>
            <a:r>
              <a:rPr b="1" lang="en-GB">
                <a:solidFill>
                  <a:schemeClr val="dk1"/>
                </a:solidFill>
              </a:rPr>
              <a:t>reason internally</a:t>
            </a:r>
            <a:r>
              <a:rPr lang="en-GB">
                <a:solidFill>
                  <a:schemeClr val="dk1"/>
                </a:solidFill>
              </a:rPr>
              <a:t> or </a:t>
            </a:r>
            <a:r>
              <a:rPr b="1" lang="en-GB">
                <a:solidFill>
                  <a:schemeClr val="dk1"/>
                </a:solidFill>
              </a:rPr>
              <a:t>take actions</a:t>
            </a:r>
            <a:r>
              <a:rPr lang="en-GB">
                <a:solidFill>
                  <a:schemeClr val="dk1"/>
                </a:solidFill>
              </a:rPr>
              <a:t>, but not both together, which limits their ability to solve complex, real-world tasks.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Method Used</a:t>
            </a:r>
            <a:br>
              <a:rPr b="1" lang="en-GB">
                <a:solidFill>
                  <a:schemeClr val="dk1"/>
                </a:solidFill>
              </a:rPr>
            </a:br>
            <a:r>
              <a:rPr lang="en-GB">
                <a:solidFill>
                  <a:schemeClr val="dk1"/>
                </a:solidFill>
              </a:rPr>
              <a:t> The paper introduces </a:t>
            </a:r>
            <a:r>
              <a:rPr b="1" lang="en-GB">
                <a:solidFill>
                  <a:schemeClr val="dk1"/>
                </a:solidFill>
              </a:rPr>
              <a:t>ReAct</a:t>
            </a:r>
            <a:r>
              <a:rPr lang="en-GB">
                <a:solidFill>
                  <a:schemeClr val="dk1"/>
                </a:solidFill>
              </a:rPr>
              <a:t>, a framework that combines </a:t>
            </a:r>
            <a:r>
              <a:rPr b="1" lang="en-GB">
                <a:solidFill>
                  <a:schemeClr val="dk1"/>
                </a:solidFill>
              </a:rPr>
              <a:t>reasoning steps (thinking)</a:t>
            </a:r>
            <a:r>
              <a:rPr lang="en-GB">
                <a:solidFill>
                  <a:schemeClr val="dk1"/>
                </a:solidFill>
              </a:rPr>
              <a:t> with </a:t>
            </a:r>
            <a:r>
              <a:rPr b="1" lang="en-GB">
                <a:solidFill>
                  <a:schemeClr val="dk1"/>
                </a:solidFill>
              </a:rPr>
              <a:t>actions (tool use or environment interaction)</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How It Works (High Level)</a:t>
            </a:r>
            <a:br>
              <a:rPr b="1" lang="en-GB">
                <a:solidFill>
                  <a:schemeClr val="dk1"/>
                </a:solidFill>
              </a:rPr>
            </a:br>
            <a:r>
              <a:rPr lang="en-GB">
                <a:solidFill>
                  <a:schemeClr val="dk1"/>
                </a:solidFill>
              </a:rPr>
              <a:t> The model alternates between </a:t>
            </a:r>
            <a:r>
              <a:rPr b="1" lang="en-GB">
                <a:solidFill>
                  <a:schemeClr val="dk1"/>
                </a:solidFill>
              </a:rPr>
              <a:t>thinking out loud</a:t>
            </a:r>
            <a:r>
              <a:rPr lang="en-GB">
                <a:solidFill>
                  <a:schemeClr val="dk1"/>
                </a:solidFill>
              </a:rPr>
              <a:t> (reasoning) and </a:t>
            </a:r>
            <a:r>
              <a:rPr b="1" lang="en-GB">
                <a:solidFill>
                  <a:schemeClr val="dk1"/>
                </a:solidFill>
              </a:rPr>
              <a:t>taking actions</a:t>
            </a:r>
            <a:r>
              <a:rPr lang="en-GB">
                <a:solidFill>
                  <a:schemeClr val="dk1"/>
                </a:solidFill>
              </a:rPr>
              <a:t> such as searching, retrieving information, or querying tools.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Data / Tasks Used</a:t>
            </a:r>
            <a:br>
              <a:rPr b="1" lang="en-GB">
                <a:solidFill>
                  <a:schemeClr val="dk1"/>
                </a:solidFill>
              </a:rPr>
            </a:br>
            <a:r>
              <a:rPr lang="en-GB">
                <a:solidFill>
                  <a:schemeClr val="dk1"/>
                </a:solidFill>
              </a:rPr>
              <a:t> Evaluated on tasks like </a:t>
            </a:r>
            <a:r>
              <a:rPr b="1" lang="en-GB">
                <a:solidFill>
                  <a:schemeClr val="dk1"/>
                </a:solidFill>
              </a:rPr>
              <a:t>question answering, decision making, and interactive environments</a:t>
            </a:r>
            <a:r>
              <a:rPr lang="en-GB">
                <a:solidFill>
                  <a:schemeClr val="dk1"/>
                </a:solidFill>
              </a:rPr>
              <a:t> that require multiple steps.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Training &amp; Evaluation</a:t>
            </a:r>
            <a:br>
              <a:rPr b="1" lang="en-GB">
                <a:solidFill>
                  <a:schemeClr val="dk1"/>
                </a:solidFill>
              </a:rPr>
            </a:br>
            <a:r>
              <a:rPr lang="en-GB">
                <a:solidFill>
                  <a:schemeClr val="dk1"/>
                </a:solidFill>
              </a:rPr>
              <a:t> Used </a:t>
            </a:r>
            <a:r>
              <a:rPr b="1" lang="en-GB">
                <a:solidFill>
                  <a:schemeClr val="dk1"/>
                </a:solidFill>
              </a:rPr>
              <a:t>prompt-based learning</a:t>
            </a:r>
            <a:r>
              <a:rPr lang="en-GB">
                <a:solidFill>
                  <a:schemeClr val="dk1"/>
                </a:solidFill>
              </a:rPr>
              <a:t> (no heavy retraining) and evaluated using </a:t>
            </a:r>
            <a:r>
              <a:rPr b="1" lang="en-GB">
                <a:solidFill>
                  <a:schemeClr val="dk1"/>
                </a:solidFill>
              </a:rPr>
              <a:t>task success and accuracy metrics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Key Results</a:t>
            </a:r>
            <a:br>
              <a:rPr b="1" lang="en-GB">
                <a:solidFill>
                  <a:schemeClr val="dk1"/>
                </a:solidFill>
              </a:rPr>
            </a:br>
            <a:r>
              <a:rPr lang="en-GB">
                <a:solidFill>
                  <a:schemeClr val="dk1"/>
                </a:solidFill>
              </a:rPr>
              <a:t> ReAct outperformed models that only reason or only act, especially on </a:t>
            </a:r>
            <a:r>
              <a:rPr b="1" lang="en-GB">
                <a:solidFill>
                  <a:schemeClr val="dk1"/>
                </a:solidFill>
              </a:rPr>
              <a:t>multi-step and knowledge-intensive tasks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Conclusion</a:t>
            </a:r>
            <a:br>
              <a:rPr b="1" lang="en-GB">
                <a:solidFill>
                  <a:schemeClr val="dk1"/>
                </a:solidFill>
              </a:rPr>
            </a:br>
            <a:r>
              <a:rPr lang="en-GB">
                <a:solidFill>
                  <a:schemeClr val="dk1"/>
                </a:solidFill>
              </a:rPr>
              <a:t> Combining reasoning and actions makes AI systems </a:t>
            </a:r>
            <a:r>
              <a:rPr b="1" lang="en-GB">
                <a:solidFill>
                  <a:schemeClr val="dk1"/>
                </a:solidFill>
              </a:rPr>
              <a:t>more reliable, interpretable, and effective</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Future Scope</a:t>
            </a:r>
            <a:br>
              <a:rPr b="1" lang="en-GB">
                <a:solidFill>
                  <a:schemeClr val="dk1"/>
                </a:solidFill>
              </a:rPr>
            </a:br>
            <a:r>
              <a:rPr lang="en-GB">
                <a:solidFill>
                  <a:schemeClr val="dk1"/>
                </a:solidFill>
              </a:rPr>
              <a:t> Better tool integration, longer reasoning chains, and more autonomous AI agents.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Relevance to Our Project (RAG &amp; Agentic AI Recommendation System)</a:t>
            </a:r>
            <a:br>
              <a:rPr b="1" lang="en-GB">
                <a:solidFill>
                  <a:schemeClr val="dk1"/>
                </a:solidFill>
              </a:rPr>
            </a:br>
            <a:r>
              <a:rPr lang="en-GB">
                <a:solidFill>
                  <a:schemeClr val="dk1"/>
                </a:solidFill>
              </a:rPr>
              <a:t> ReAct directly supports </a:t>
            </a:r>
            <a:r>
              <a:rPr b="1" lang="en-GB">
                <a:solidFill>
                  <a:schemeClr val="dk1"/>
                </a:solidFill>
              </a:rPr>
              <a:t>Agentic AI</a:t>
            </a:r>
            <a:r>
              <a:rPr lang="en-GB">
                <a:solidFill>
                  <a:schemeClr val="dk1"/>
                </a:solidFill>
              </a:rPr>
              <a:t>, where agents reason, retrieve information (RAG), and take actions to generate better recommendations.</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030719b8d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030719b8d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Learning to Summarize with Human Feedback</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Problem Addressed</a:t>
            </a:r>
            <a:br>
              <a:rPr b="1" lang="en-GB">
                <a:solidFill>
                  <a:schemeClr val="dk1"/>
                </a:solidFill>
              </a:rPr>
            </a:br>
            <a:r>
              <a:rPr lang="en-GB">
                <a:solidFill>
                  <a:schemeClr val="dk1"/>
                </a:solidFill>
              </a:rPr>
              <a:t> Traditional text summarization models often produce summaries that are </a:t>
            </a:r>
            <a:r>
              <a:rPr b="1" lang="en-GB">
                <a:solidFill>
                  <a:schemeClr val="dk1"/>
                </a:solidFill>
              </a:rPr>
              <a:t>factually incorrect, repetitive, or misaligned with human expectations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Method Used</a:t>
            </a:r>
            <a:br>
              <a:rPr b="1" lang="en-GB">
                <a:solidFill>
                  <a:schemeClr val="dk1"/>
                </a:solidFill>
              </a:rPr>
            </a:br>
            <a:r>
              <a:rPr lang="en-GB">
                <a:solidFill>
                  <a:schemeClr val="dk1"/>
                </a:solidFill>
              </a:rPr>
              <a:t> The paper introduces </a:t>
            </a:r>
            <a:r>
              <a:rPr b="1" lang="en-GB">
                <a:solidFill>
                  <a:schemeClr val="dk1"/>
                </a:solidFill>
              </a:rPr>
              <a:t>training with human feedback</a:t>
            </a:r>
            <a:r>
              <a:rPr lang="en-GB">
                <a:solidFill>
                  <a:schemeClr val="dk1"/>
                </a:solidFill>
              </a:rPr>
              <a:t>, where humans compare summaries and indicate which one is better.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How It Works (High Level)</a:t>
            </a:r>
            <a:br>
              <a:rPr b="1" lang="en-GB">
                <a:solidFill>
                  <a:schemeClr val="dk1"/>
                </a:solidFill>
              </a:rPr>
            </a:br>
            <a:r>
              <a:rPr lang="en-GB">
                <a:solidFill>
                  <a:schemeClr val="dk1"/>
                </a:solidFill>
              </a:rPr>
              <a:t> The model first generates multiple summaries.</a:t>
            </a:r>
            <a:br>
              <a:rPr lang="en-GB">
                <a:solidFill>
                  <a:schemeClr val="dk1"/>
                </a:solidFill>
              </a:rPr>
            </a:br>
            <a:r>
              <a:rPr lang="en-GB">
                <a:solidFill>
                  <a:schemeClr val="dk1"/>
                </a:solidFill>
              </a:rPr>
              <a:t> Human preferences are used to teach the model </a:t>
            </a:r>
            <a:r>
              <a:rPr b="1" lang="en-GB">
                <a:solidFill>
                  <a:schemeClr val="dk1"/>
                </a:solidFill>
              </a:rPr>
              <a:t>what a good summary looks like</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Data Used</a:t>
            </a:r>
            <a:br>
              <a:rPr b="1" lang="en-GB">
                <a:solidFill>
                  <a:schemeClr val="dk1"/>
                </a:solidFill>
              </a:rPr>
            </a:br>
            <a:r>
              <a:rPr lang="en-GB">
                <a:solidFill>
                  <a:schemeClr val="dk1"/>
                </a:solidFill>
              </a:rPr>
              <a:t> Large collections of </a:t>
            </a:r>
            <a:r>
              <a:rPr b="1" lang="en-GB">
                <a:solidFill>
                  <a:schemeClr val="dk1"/>
                </a:solidFill>
              </a:rPr>
              <a:t>articles and their summaries</a:t>
            </a:r>
            <a:r>
              <a:rPr lang="en-GB">
                <a:solidFill>
                  <a:schemeClr val="dk1"/>
                </a:solidFill>
              </a:rPr>
              <a:t>, along with </a:t>
            </a:r>
            <a:r>
              <a:rPr b="1" lang="en-GB">
                <a:solidFill>
                  <a:schemeClr val="dk1"/>
                </a:solidFill>
              </a:rPr>
              <a:t>human comparison labels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Training &amp; Evaluation</a:t>
            </a:r>
            <a:br>
              <a:rPr b="1" lang="en-GB">
                <a:solidFill>
                  <a:schemeClr val="dk1"/>
                </a:solidFill>
              </a:rPr>
            </a:br>
            <a:r>
              <a:rPr lang="en-GB">
                <a:solidFill>
                  <a:schemeClr val="dk1"/>
                </a:solidFill>
              </a:rPr>
              <a:t> The model is trained using a </a:t>
            </a:r>
            <a:r>
              <a:rPr b="1" lang="en-GB">
                <a:solidFill>
                  <a:schemeClr val="dk1"/>
                </a:solidFill>
              </a:rPr>
              <a:t>reward model based on human feedback</a:t>
            </a:r>
            <a:r>
              <a:rPr lang="en-GB">
                <a:solidFill>
                  <a:schemeClr val="dk1"/>
                </a:solidFill>
              </a:rPr>
              <a:t> and evaluated on summary quality and human preference scores.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Key Results</a:t>
            </a:r>
            <a:br>
              <a:rPr b="1" lang="en-GB">
                <a:solidFill>
                  <a:schemeClr val="dk1"/>
                </a:solidFill>
              </a:rPr>
            </a:br>
            <a:r>
              <a:rPr lang="en-GB">
                <a:solidFill>
                  <a:schemeClr val="dk1"/>
                </a:solidFill>
              </a:rPr>
              <a:t> Models trained with human feedback produced </a:t>
            </a:r>
            <a:r>
              <a:rPr b="1" lang="en-GB">
                <a:solidFill>
                  <a:schemeClr val="dk1"/>
                </a:solidFill>
              </a:rPr>
              <a:t>clearer, more accurate, and more human-like summaries</a:t>
            </a:r>
            <a:r>
              <a:rPr lang="en-GB">
                <a:solidFill>
                  <a:schemeClr val="dk1"/>
                </a:solidFill>
              </a:rPr>
              <a:t> than standard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Conclusion</a:t>
            </a:r>
            <a:br>
              <a:rPr b="1" lang="en-GB">
                <a:solidFill>
                  <a:schemeClr val="dk1"/>
                </a:solidFill>
              </a:rPr>
            </a:br>
            <a:r>
              <a:rPr lang="en-GB">
                <a:solidFill>
                  <a:schemeClr val="dk1"/>
                </a:solidFill>
              </a:rPr>
              <a:t> Human feedback significantly improves alignment between AI outputs and </a:t>
            </a:r>
            <a:r>
              <a:rPr b="1" lang="en-GB">
                <a:solidFill>
                  <a:schemeClr val="dk1"/>
                </a:solidFill>
              </a:rPr>
              <a:t>human expectations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Future Scope</a:t>
            </a:r>
            <a:br>
              <a:rPr b="1" lang="en-GB">
                <a:solidFill>
                  <a:schemeClr val="dk1"/>
                </a:solidFill>
              </a:rPr>
            </a:br>
            <a:r>
              <a:rPr lang="en-GB">
                <a:solidFill>
                  <a:schemeClr val="dk1"/>
                </a:solidFill>
              </a:rPr>
              <a:t> Applying human feedback to other tasks like dialogue systems, reasoning, and decision-making agents.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Relevance to Our Project (RAG &amp; Agentic AI Recommendation System)</a:t>
            </a:r>
            <a:br>
              <a:rPr b="1" lang="en-GB">
                <a:solidFill>
                  <a:schemeClr val="dk1"/>
                </a:solidFill>
              </a:rPr>
            </a:br>
            <a:r>
              <a:rPr lang="en-GB">
                <a:solidFill>
                  <a:schemeClr val="dk1"/>
                </a:solidFill>
              </a:rPr>
              <a:t> Human feedback can help improve </a:t>
            </a:r>
            <a:r>
              <a:rPr b="1" lang="en-GB">
                <a:solidFill>
                  <a:schemeClr val="dk1"/>
                </a:solidFill>
              </a:rPr>
              <a:t>recommendation quality, relevance, and trustworthiness</a:t>
            </a:r>
            <a:r>
              <a:rPr lang="en-GB">
                <a:solidFill>
                  <a:schemeClr val="dk1"/>
                </a:solidFill>
              </a:rPr>
              <a:t> in RAG-based agent systems.</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030719b8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030719b8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Transforming Sentiment Analysis for E-Commerce Product Reviews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Problem Addressed</a:t>
            </a:r>
            <a:br>
              <a:rPr b="1" lang="en-GB">
                <a:solidFill>
                  <a:schemeClr val="dk1"/>
                </a:solidFill>
              </a:rPr>
            </a:br>
            <a:r>
              <a:rPr lang="en-GB">
                <a:solidFill>
                  <a:schemeClr val="dk1"/>
                </a:solidFill>
              </a:rPr>
              <a:t> Existing sentiment analysis models struggle with </a:t>
            </a:r>
            <a:r>
              <a:rPr b="1" lang="en-GB">
                <a:solidFill>
                  <a:schemeClr val="dk1"/>
                </a:solidFill>
              </a:rPr>
              <a:t>long, complex reviews</a:t>
            </a:r>
            <a:r>
              <a:rPr lang="en-GB">
                <a:solidFill>
                  <a:schemeClr val="dk1"/>
                </a:solidFill>
              </a:rPr>
              <a:t>, varied writing styles, and </a:t>
            </a:r>
            <a:r>
              <a:rPr b="1" lang="en-GB">
                <a:solidFill>
                  <a:schemeClr val="dk1"/>
                </a:solidFill>
              </a:rPr>
              <a:t>irrelevant words</a:t>
            </a:r>
            <a:r>
              <a:rPr lang="en-GB">
                <a:solidFill>
                  <a:schemeClr val="dk1"/>
                </a:solidFill>
              </a:rPr>
              <a:t>, leading to inaccurate sentiment predictions.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Purpose of the Paper</a:t>
            </a:r>
            <a:br>
              <a:rPr b="1" lang="en-GB">
                <a:solidFill>
                  <a:schemeClr val="dk1"/>
                </a:solidFill>
              </a:rPr>
            </a:br>
            <a:r>
              <a:rPr lang="en-GB">
                <a:solidFill>
                  <a:schemeClr val="dk1"/>
                </a:solidFill>
              </a:rPr>
              <a:t> To improve automatic identification of </a:t>
            </a:r>
            <a:r>
              <a:rPr b="1" lang="en-GB">
                <a:solidFill>
                  <a:schemeClr val="dk1"/>
                </a:solidFill>
              </a:rPr>
              <a:t>positive, negative, and neutral</a:t>
            </a:r>
            <a:r>
              <a:rPr lang="en-GB">
                <a:solidFill>
                  <a:schemeClr val="dk1"/>
                </a:solidFill>
              </a:rPr>
              <a:t> sentiments in e-commerce product reviews for better business insights.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Method Used</a:t>
            </a:r>
            <a:br>
              <a:rPr b="1" lang="en-GB">
                <a:solidFill>
                  <a:schemeClr val="dk1"/>
                </a:solidFill>
              </a:rPr>
            </a:br>
            <a:r>
              <a:rPr lang="en-GB">
                <a:solidFill>
                  <a:schemeClr val="dk1"/>
                </a:solidFill>
              </a:rPr>
              <a:t> Proposes a </a:t>
            </a:r>
            <a:r>
              <a:rPr b="1" lang="en-GB">
                <a:solidFill>
                  <a:schemeClr val="dk1"/>
                </a:solidFill>
              </a:rPr>
              <a:t>hybrid deep learning model (EGJO-LSTM)</a:t>
            </a:r>
            <a:r>
              <a:rPr lang="en-GB">
                <a:solidFill>
                  <a:schemeClr val="dk1"/>
                </a:solidFill>
              </a:rPr>
              <a:t> combining optimization techniques with LSTM for better learning and classification.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How It Works (High Level)</a:t>
            </a:r>
            <a:br>
              <a:rPr b="1" lang="en-GB">
                <a:solidFill>
                  <a:schemeClr val="dk1"/>
                </a:solidFill>
              </a:rPr>
            </a:br>
            <a:r>
              <a:rPr lang="en-GB">
                <a:solidFill>
                  <a:schemeClr val="dk1"/>
                </a:solidFill>
              </a:rPr>
              <a:t> Customer reviews are cleaned, important words are given more weight, irrelevant features are removed, and the final sentiment is predicted using the optimized LSTM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Dataset Used</a:t>
            </a:r>
            <a:br>
              <a:rPr b="1" lang="en-GB">
                <a:solidFill>
                  <a:schemeClr val="dk1"/>
                </a:solidFill>
              </a:rPr>
            </a:br>
            <a:r>
              <a:rPr lang="en-GB">
                <a:solidFill>
                  <a:schemeClr val="dk1"/>
                </a:solidFill>
              </a:rPr>
              <a:t> </a:t>
            </a:r>
            <a:r>
              <a:rPr b="1" lang="en-GB">
                <a:solidFill>
                  <a:schemeClr val="dk1"/>
                </a:solidFill>
              </a:rPr>
              <a:t>Amazon e-commerce product reviews</a:t>
            </a:r>
            <a:r>
              <a:rPr lang="en-GB">
                <a:solidFill>
                  <a:schemeClr val="dk1"/>
                </a:solidFill>
              </a:rPr>
              <a:t>, collected using web scraping.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Training &amp; Evaluation</a:t>
            </a:r>
            <a:br>
              <a:rPr b="1" lang="en-GB">
                <a:solidFill>
                  <a:schemeClr val="dk1"/>
                </a:solidFill>
              </a:rPr>
            </a:br>
            <a:r>
              <a:rPr lang="en-GB">
                <a:solidFill>
                  <a:schemeClr val="dk1"/>
                </a:solidFill>
              </a:rPr>
              <a:t> Model performance is evaluated using </a:t>
            </a:r>
            <a:r>
              <a:rPr b="1" lang="en-GB">
                <a:solidFill>
                  <a:schemeClr val="dk1"/>
                </a:solidFill>
              </a:rPr>
              <a:t>accuracy, precision, recall, and F1-score</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Key Results</a:t>
            </a:r>
            <a:br>
              <a:rPr b="1" lang="en-GB">
                <a:solidFill>
                  <a:schemeClr val="dk1"/>
                </a:solidFill>
              </a:rPr>
            </a:br>
            <a:r>
              <a:rPr lang="en-GB">
                <a:solidFill>
                  <a:schemeClr val="dk1"/>
                </a:solidFill>
              </a:rPr>
              <a:t> Achieved </a:t>
            </a:r>
            <a:r>
              <a:rPr b="1" lang="en-GB">
                <a:solidFill>
                  <a:schemeClr val="dk1"/>
                </a:solidFill>
              </a:rPr>
              <a:t>32% improvement in accuracy</a:t>
            </a:r>
            <a:r>
              <a:rPr lang="en-GB">
                <a:solidFill>
                  <a:schemeClr val="dk1"/>
                </a:solidFill>
              </a:rPr>
              <a:t> and </a:t>
            </a:r>
            <a:r>
              <a:rPr b="1" lang="en-GB">
                <a:solidFill>
                  <a:schemeClr val="dk1"/>
                </a:solidFill>
              </a:rPr>
              <a:t>25% improvement in precision</a:t>
            </a:r>
            <a:r>
              <a:rPr lang="en-GB">
                <a:solidFill>
                  <a:schemeClr val="dk1"/>
                </a:solidFill>
              </a:rPr>
              <a:t>, outperforming traditional and hybrid sentiment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Conclusion</a:t>
            </a:r>
            <a:br>
              <a:rPr b="1" lang="en-GB">
                <a:solidFill>
                  <a:schemeClr val="dk1"/>
                </a:solidFill>
              </a:rPr>
            </a:br>
            <a:r>
              <a:rPr lang="en-GB">
                <a:solidFill>
                  <a:schemeClr val="dk1"/>
                </a:solidFill>
              </a:rPr>
              <a:t> Optimized feature weighting and selection significantly improve sentiment classification performance in real-world reviews.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Future Scope / Practical Use</a:t>
            </a:r>
            <a:br>
              <a:rPr b="1" lang="en-GB">
                <a:solidFill>
                  <a:schemeClr val="dk1"/>
                </a:solidFill>
              </a:rPr>
            </a:br>
            <a:r>
              <a:rPr lang="en-GB">
                <a:solidFill>
                  <a:schemeClr val="dk1"/>
                </a:solidFill>
              </a:rPr>
              <a:t> Can be extended to other review platforms and customer feedback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a:t>
            </a:r>
            <a:r>
              <a:rPr b="1" lang="en-GB">
                <a:solidFill>
                  <a:schemeClr val="dk1"/>
                </a:solidFill>
              </a:rPr>
              <a:t>Relevance to Our Project (RAG &amp; Agentic AI Recommendation System)</a:t>
            </a:r>
            <a:br>
              <a:rPr b="1" lang="en-GB">
                <a:solidFill>
                  <a:schemeClr val="dk1"/>
                </a:solidFill>
              </a:rPr>
            </a:br>
            <a:r>
              <a:rPr lang="en-GB">
                <a:solidFill>
                  <a:schemeClr val="dk1"/>
                </a:solidFill>
              </a:rPr>
              <a:t> Sentiment insights can improve </a:t>
            </a:r>
            <a:r>
              <a:rPr b="1" lang="en-GB">
                <a:solidFill>
                  <a:schemeClr val="dk1"/>
                </a:solidFill>
              </a:rPr>
              <a:t>recommendation relevance</a:t>
            </a:r>
            <a:r>
              <a:rPr lang="en-GB">
                <a:solidFill>
                  <a:schemeClr val="dk1"/>
                </a:solidFill>
              </a:rPr>
              <a:t>, user trust, and decision-making in AI-driven recommendation agents.</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030719b8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030719b8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papers.nips.cc/paper_files/paper/2017/hash/3f5ee243547dee91fbd053c1c4a845aa-Abstract.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arxiv.org/abs/2005.1140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arxiv.org/abs/1405.4053"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arxiv.org/abs/1405.4053" TargetMode="External"/><Relationship Id="rId4" Type="http://schemas.openxmlformats.org/officeDocument/2006/relationships/hyperlink" Target="https://arxiv.org/abs/1405.405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proceedings.neurips.cc/paper/2020/hash/1f89885d556929e98d3ef9b86448f951-Abstract.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sciencedirect.com/science/article/abs/pii/S030645732400014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create a nice title/ opening slide for this one" id="54" name="Google Shape;54;p13"/>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Beautify this slide" id="59" name="Google Shape;59;p14"/>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change background with AI based image" id="64" name="Google Shape;64;p15"/>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Beautify this slide" id="69" name="Google Shape;69;p16"/>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Beautify this slide" id="74" name="Google Shape;74;p17"/>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Beautify this slide" id="79" name="Google Shape;79;p18"/>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Beautify this slide" id="84" name="Google Shape;84;p19"/>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Beautify this slide" id="89" name="Google Shape;89;p20"/>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Beautify this slide" id="94" name="Google Shape;94;p21"/>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Beautify this slide" id="99" name="Google Shape;99;p22"/>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 name="Shape 103"/>
        <p:cNvGrpSpPr/>
        <p:nvPr/>
      </p:nvGrpSpPr>
      <p:grpSpPr>
        <a:xfrm>
          <a:off x="0" y="0"/>
          <a:ext cx="0" cy="0"/>
          <a:chOff x="0" y="0"/>
          <a:chExt cx="0" cy="0"/>
        </a:xfrm>
      </p:grpSpPr>
      <p:sp>
        <p:nvSpPr>
          <p:cNvPr id="104" name="Google Shape;104;p23"/>
          <p:cNvSpPr txBox="1"/>
          <p:nvPr>
            <p:ph type="title"/>
          </p:nvPr>
        </p:nvSpPr>
        <p:spPr>
          <a:xfrm>
            <a:off x="311700" y="35965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Progress &amp; Challenges </a:t>
            </a:r>
            <a:endParaRPr/>
          </a:p>
        </p:txBody>
      </p:sp>
      <p:sp>
        <p:nvSpPr>
          <p:cNvPr id="105" name="Google Shape;105;p23"/>
          <p:cNvSpPr/>
          <p:nvPr/>
        </p:nvSpPr>
        <p:spPr>
          <a:xfrm>
            <a:off x="468650" y="1103100"/>
            <a:ext cx="3521400" cy="3373500"/>
          </a:xfrm>
          <a:prstGeom prst="roundRect">
            <a:avLst>
              <a:gd fmla="val 396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spcBef>
                <a:spcPts val="0"/>
              </a:spcBef>
              <a:spcAft>
                <a:spcPts val="0"/>
              </a:spcAft>
              <a:buClr>
                <a:srgbClr val="073763"/>
              </a:buClr>
              <a:buSzPts val="1200"/>
              <a:buFont typeface="Montserrat"/>
              <a:buChar char="●"/>
            </a:pPr>
            <a:r>
              <a:rPr lang="en-GB" sz="1200">
                <a:solidFill>
                  <a:srgbClr val="073763"/>
                </a:solidFill>
                <a:latin typeface="Montserrat"/>
                <a:ea typeface="Montserrat"/>
                <a:cs typeface="Montserrat"/>
                <a:sym typeface="Montserrat"/>
              </a:rPr>
              <a:t>Completed a </a:t>
            </a:r>
            <a:r>
              <a:rPr b="1" lang="en-GB" sz="1200">
                <a:solidFill>
                  <a:srgbClr val="073763"/>
                </a:solidFill>
                <a:latin typeface="Montserrat"/>
                <a:ea typeface="Montserrat"/>
                <a:cs typeface="Montserrat"/>
                <a:sym typeface="Montserrat"/>
              </a:rPr>
              <a:t>structured literature review</a:t>
            </a:r>
            <a:r>
              <a:rPr lang="en-GB" sz="1200">
                <a:solidFill>
                  <a:srgbClr val="073763"/>
                </a:solidFill>
                <a:latin typeface="Montserrat"/>
                <a:ea typeface="Montserrat"/>
                <a:cs typeface="Montserrat"/>
                <a:sym typeface="Montserrat"/>
              </a:rPr>
              <a:t> and team discussions covering </a:t>
            </a:r>
            <a:r>
              <a:rPr b="1" lang="en-GB" sz="1200">
                <a:solidFill>
                  <a:srgbClr val="073763"/>
                </a:solidFill>
                <a:latin typeface="Montserrat"/>
                <a:ea typeface="Montserrat"/>
                <a:cs typeface="Montserrat"/>
                <a:sym typeface="Montserrat"/>
              </a:rPr>
              <a:t>8 research papers</a:t>
            </a:r>
            <a:endParaRPr b="1" sz="1200">
              <a:solidFill>
                <a:srgbClr val="073763"/>
              </a:solidFill>
              <a:latin typeface="Montserrat"/>
              <a:ea typeface="Montserrat"/>
              <a:cs typeface="Montserrat"/>
              <a:sym typeface="Montserrat"/>
            </a:endParaRPr>
          </a:p>
          <a:p>
            <a:pPr indent="-304800" lvl="0" marL="457200" rtl="0" algn="l">
              <a:spcBef>
                <a:spcPts val="0"/>
              </a:spcBef>
              <a:spcAft>
                <a:spcPts val="0"/>
              </a:spcAft>
              <a:buClr>
                <a:srgbClr val="073763"/>
              </a:buClr>
              <a:buSzPts val="1200"/>
              <a:buFont typeface="Montserrat"/>
              <a:buChar char="●"/>
            </a:pPr>
            <a:r>
              <a:rPr lang="en-GB" sz="1200">
                <a:solidFill>
                  <a:srgbClr val="073763"/>
                </a:solidFill>
                <a:latin typeface="Montserrat"/>
                <a:ea typeface="Montserrat"/>
                <a:cs typeface="Montserrat"/>
                <a:sym typeface="Montserrat"/>
              </a:rPr>
              <a:t>Referred to </a:t>
            </a:r>
            <a:r>
              <a:rPr b="1" lang="en-GB" sz="1200">
                <a:solidFill>
                  <a:srgbClr val="073763"/>
                </a:solidFill>
                <a:latin typeface="Montserrat"/>
                <a:ea typeface="Montserrat"/>
                <a:cs typeface="Montserrat"/>
                <a:sym typeface="Montserrat"/>
              </a:rPr>
              <a:t>20+ external learning resources</a:t>
            </a:r>
            <a:r>
              <a:rPr lang="en-GB" sz="1200">
                <a:solidFill>
                  <a:srgbClr val="073763"/>
                </a:solidFill>
                <a:latin typeface="Montserrat"/>
                <a:ea typeface="Montserrat"/>
                <a:cs typeface="Montserrat"/>
                <a:sym typeface="Montserrat"/>
              </a:rPr>
              <a:t>, including blogs, focused YouTube playlists, and textbook summaries to build fundamentals</a:t>
            </a:r>
            <a:endParaRPr sz="1200">
              <a:solidFill>
                <a:srgbClr val="073763"/>
              </a:solidFill>
              <a:latin typeface="Montserrat"/>
              <a:ea typeface="Montserrat"/>
              <a:cs typeface="Montserrat"/>
              <a:sym typeface="Montserrat"/>
            </a:endParaRPr>
          </a:p>
          <a:p>
            <a:pPr indent="-304800" lvl="0" marL="457200" rtl="0" algn="l">
              <a:spcBef>
                <a:spcPts val="0"/>
              </a:spcBef>
              <a:spcAft>
                <a:spcPts val="0"/>
              </a:spcAft>
              <a:buClr>
                <a:srgbClr val="073763"/>
              </a:buClr>
              <a:buSzPts val="1200"/>
              <a:buFont typeface="Montserrat"/>
              <a:buChar char="●"/>
            </a:pPr>
            <a:r>
              <a:rPr lang="en-GB" sz="1200">
                <a:solidFill>
                  <a:srgbClr val="073763"/>
                </a:solidFill>
                <a:latin typeface="Montserrat"/>
                <a:ea typeface="Montserrat"/>
                <a:cs typeface="Montserrat"/>
                <a:sym typeface="Montserrat"/>
              </a:rPr>
              <a:t>Developed a </a:t>
            </a:r>
            <a:r>
              <a:rPr b="1" lang="en-GB" sz="1200">
                <a:solidFill>
                  <a:srgbClr val="073763"/>
                </a:solidFill>
                <a:latin typeface="Montserrat"/>
                <a:ea typeface="Montserrat"/>
                <a:cs typeface="Montserrat"/>
                <a:sym typeface="Montserrat"/>
              </a:rPr>
              <a:t>clear conceptual understanding</a:t>
            </a:r>
            <a:r>
              <a:rPr lang="en-GB" sz="1200">
                <a:solidFill>
                  <a:srgbClr val="073763"/>
                </a:solidFill>
                <a:latin typeface="Montserrat"/>
                <a:ea typeface="Montserrat"/>
                <a:cs typeface="Montserrat"/>
                <a:sym typeface="Montserrat"/>
              </a:rPr>
              <a:t> of attention, RAG</a:t>
            </a:r>
            <a:r>
              <a:rPr lang="en-GB" sz="1200">
                <a:solidFill>
                  <a:srgbClr val="073763"/>
                </a:solidFill>
                <a:latin typeface="Montserrat"/>
                <a:ea typeface="Montserrat"/>
                <a:cs typeface="Montserrat"/>
                <a:sym typeface="Montserrat"/>
              </a:rPr>
              <a:t>, and  RAG retrieved passages</a:t>
            </a:r>
            <a:endParaRPr sz="1200">
              <a:solidFill>
                <a:srgbClr val="073763"/>
              </a:solidFill>
              <a:latin typeface="Montserrat"/>
              <a:ea typeface="Montserrat"/>
              <a:cs typeface="Montserrat"/>
              <a:sym typeface="Montserrat"/>
            </a:endParaRPr>
          </a:p>
          <a:p>
            <a:pPr indent="-304800" lvl="0" marL="457200" rtl="0" algn="l">
              <a:spcBef>
                <a:spcPts val="0"/>
              </a:spcBef>
              <a:spcAft>
                <a:spcPts val="0"/>
              </a:spcAft>
              <a:buClr>
                <a:srgbClr val="073763"/>
              </a:buClr>
              <a:buSzPts val="1200"/>
              <a:buFont typeface="Montserrat"/>
              <a:buChar char="●"/>
            </a:pPr>
            <a:r>
              <a:rPr lang="en-GB" sz="1200">
                <a:solidFill>
                  <a:srgbClr val="073763"/>
                </a:solidFill>
                <a:latin typeface="Montserrat"/>
                <a:ea typeface="Montserrat"/>
                <a:cs typeface="Montserrat"/>
                <a:sym typeface="Montserrat"/>
              </a:rPr>
              <a:t>Explored </a:t>
            </a:r>
            <a:r>
              <a:rPr b="1" lang="en-GB" sz="1200">
                <a:solidFill>
                  <a:srgbClr val="073763"/>
                </a:solidFill>
                <a:latin typeface="Montserrat"/>
                <a:ea typeface="Montserrat"/>
                <a:cs typeface="Montserrat"/>
                <a:sym typeface="Montserrat"/>
              </a:rPr>
              <a:t>additional applic</a:t>
            </a:r>
            <a:r>
              <a:rPr b="1" lang="en-GB" sz="1200">
                <a:solidFill>
                  <a:srgbClr val="073763"/>
                </a:solidFill>
                <a:latin typeface="Montserrat"/>
                <a:ea typeface="Montserrat"/>
                <a:cs typeface="Montserrat"/>
                <a:sym typeface="Montserrat"/>
              </a:rPr>
              <a:t>ation areas</a:t>
            </a:r>
            <a:r>
              <a:rPr lang="en-GB" sz="1200">
                <a:solidFill>
                  <a:srgbClr val="073763"/>
                </a:solidFill>
                <a:latin typeface="Montserrat"/>
                <a:ea typeface="Montserrat"/>
                <a:cs typeface="Montserrat"/>
                <a:sym typeface="Montserrat"/>
              </a:rPr>
              <a:t> such as legal document assistance, Policy Documents &amp; higher-education systems (course recommendation and degree planning)</a:t>
            </a:r>
            <a:endParaRPr sz="1200">
              <a:solidFill>
                <a:srgbClr val="073763"/>
              </a:solidFill>
              <a:latin typeface="Montserrat"/>
              <a:ea typeface="Montserrat"/>
              <a:cs typeface="Montserrat"/>
              <a:sym typeface="Montserrat"/>
            </a:endParaRPr>
          </a:p>
        </p:txBody>
      </p:sp>
      <p:sp>
        <p:nvSpPr>
          <p:cNvPr id="106" name="Google Shape;106;p23"/>
          <p:cNvSpPr/>
          <p:nvPr/>
        </p:nvSpPr>
        <p:spPr>
          <a:xfrm>
            <a:off x="4961575" y="1103100"/>
            <a:ext cx="3521400" cy="3819900"/>
          </a:xfrm>
          <a:prstGeom prst="roundRect">
            <a:avLst>
              <a:gd fmla="val 396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Understanding </a:t>
            </a:r>
            <a:r>
              <a:rPr lang="en-GB" sz="1100">
                <a:solidFill>
                  <a:schemeClr val="dk1"/>
                </a:solidFill>
              </a:rPr>
              <a:t>Mathematical</a:t>
            </a:r>
            <a:r>
              <a:rPr lang="en-GB" sz="1100">
                <a:solidFill>
                  <a:schemeClr val="dk1"/>
                </a:solidFill>
              </a:rPr>
              <a:t> intuitions in research papers lack of bandwidth to deep dive into </a:t>
            </a:r>
            <a:r>
              <a:rPr lang="en-GB" sz="1100">
                <a:solidFill>
                  <a:schemeClr val="dk1"/>
                </a:solidFill>
              </a:rPr>
              <a:t>Mathematical</a:t>
            </a:r>
            <a:r>
              <a:rPr lang="en-GB" sz="1100">
                <a:solidFill>
                  <a:schemeClr val="dk1"/>
                </a:solidFill>
              </a:rPr>
              <a:t>, requires further time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 </a:t>
            </a:r>
            <a:endParaRPr sz="1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0" name="Shape 110"/>
        <p:cNvGrpSpPr/>
        <p:nvPr/>
      </p:nvGrpSpPr>
      <p:grpSpPr>
        <a:xfrm>
          <a:off x="0" y="0"/>
          <a:ext cx="0" cy="0"/>
          <a:chOff x="0" y="0"/>
          <a:chExt cx="0" cy="0"/>
        </a:xfrm>
      </p:grpSpPr>
      <p:sp>
        <p:nvSpPr>
          <p:cNvPr id="111" name="Google Shape;111;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Capstone Project </a:t>
            </a:r>
            <a:endParaRPr/>
          </a:p>
        </p:txBody>
      </p:sp>
      <p:sp>
        <p:nvSpPr>
          <p:cNvPr id="112" name="Google Shape;112;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n-GB"/>
              <a:t>Group -2</a:t>
            </a:r>
            <a:endParaRPr/>
          </a:p>
          <a:p>
            <a:pPr indent="0" lvl="0" marL="0" rtl="0" algn="ctr">
              <a:spcBef>
                <a:spcPts val="0"/>
              </a:spcBef>
              <a:spcAft>
                <a:spcPts val="0"/>
              </a:spcAft>
              <a:buNone/>
            </a:pPr>
            <a:br>
              <a:rPr lang="en-GB"/>
            </a:br>
            <a:r>
              <a:rPr lang="en-GB"/>
              <a:t>RAG Based product </a:t>
            </a:r>
            <a:r>
              <a:rPr lang="en-GB"/>
              <a:t>recommendation</a:t>
            </a:r>
            <a:r>
              <a:rPr lang="en-GB"/>
              <a:t> for E-commerce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 name="Shape 116"/>
        <p:cNvGrpSpPr/>
        <p:nvPr/>
      </p:nvGrpSpPr>
      <p:grpSpPr>
        <a:xfrm>
          <a:off x="0" y="0"/>
          <a:ext cx="0" cy="0"/>
          <a:chOff x="0" y="0"/>
          <a:chExt cx="0" cy="0"/>
        </a:xfrm>
      </p:grpSpPr>
      <p:sp>
        <p:nvSpPr>
          <p:cNvPr id="117" name="Google Shape;117;p25"/>
          <p:cNvSpPr txBox="1"/>
          <p:nvPr>
            <p:ph type="title"/>
          </p:nvPr>
        </p:nvSpPr>
        <p:spPr>
          <a:xfrm>
            <a:off x="311700" y="30895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SemiBold"/>
                <a:ea typeface="Montserrat SemiBold"/>
                <a:cs typeface="Montserrat SemiBold"/>
                <a:sym typeface="Montserrat SemiBold"/>
              </a:rPr>
              <a:t>Literature Summary #1 </a:t>
            </a:r>
            <a:r>
              <a:rPr i="1" lang="en-GB" sz="2022">
                <a:solidFill>
                  <a:srgbClr val="0000FF"/>
                </a:solidFill>
                <a:latin typeface="Montserrat SemiBold"/>
                <a:ea typeface="Montserrat SemiBold"/>
                <a:cs typeface="Montserrat SemiBold"/>
                <a:sym typeface="Montserrat SemiBold"/>
              </a:rPr>
              <a:t>(</a:t>
            </a:r>
            <a:r>
              <a:rPr i="1" lang="en-GB" sz="2022" u="sng">
                <a:solidFill>
                  <a:srgbClr val="0000FF"/>
                </a:solidFill>
                <a:latin typeface="Montserrat SemiBold"/>
                <a:ea typeface="Montserrat SemiBold"/>
                <a:cs typeface="Montserrat SemiBold"/>
                <a:sym typeface="Montserrat SemiBold"/>
                <a:hlinkClick r:id="rId3">
                  <a:extLst>
                    <a:ext uri="{A12FA001-AC4F-418D-AE19-62706E023703}">
                      <ahyp:hlinkClr val="tx"/>
                    </a:ext>
                  </a:extLst>
                </a:hlinkClick>
              </a:rPr>
              <a:t>Attention is all you need)</a:t>
            </a:r>
            <a:endParaRPr i="1" sz="2022">
              <a:solidFill>
                <a:srgbClr val="0000FF"/>
              </a:solidFill>
              <a:latin typeface="Montserrat SemiBold"/>
              <a:ea typeface="Montserrat SemiBold"/>
              <a:cs typeface="Montserrat SemiBold"/>
              <a:sym typeface="Montserrat SemiBold"/>
            </a:endParaRPr>
          </a:p>
        </p:txBody>
      </p:sp>
      <p:sp>
        <p:nvSpPr>
          <p:cNvPr id="118" name="Google Shape;118;p25"/>
          <p:cNvSpPr txBox="1"/>
          <p:nvPr>
            <p:ph idx="1" type="body"/>
          </p:nvPr>
        </p:nvSpPr>
        <p:spPr>
          <a:xfrm>
            <a:off x="311700" y="1063477"/>
            <a:ext cx="4260300" cy="38715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GB" sz="1100">
                <a:solidFill>
                  <a:srgbClr val="073763"/>
                </a:solidFill>
                <a:latin typeface="Montserrat"/>
                <a:ea typeface="Montserrat"/>
                <a:cs typeface="Montserrat"/>
                <a:sym typeface="Montserrat"/>
              </a:rPr>
              <a:t>Problem Addressed</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 Earlier AI models processed text step-by-step, which was slow and struggled with long sentences.</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Method Used</a:t>
            </a:r>
            <a:endParaRPr b="1" sz="1100">
              <a:solidFill>
                <a:srgbClr val="073763"/>
              </a:solidFill>
              <a:latin typeface="Montserrat"/>
              <a:ea typeface="Montserrat"/>
              <a:cs typeface="Montserrat"/>
              <a:sym typeface="Montserrat"/>
            </a:endParaRPr>
          </a:p>
          <a:p>
            <a:pPr indent="-298450" lvl="0" marL="457200" rtl="0" algn="l">
              <a:spcBef>
                <a:spcPts val="0"/>
              </a:spcBef>
              <a:spcAft>
                <a:spcPts val="0"/>
              </a:spcAft>
              <a:buClr>
                <a:srgbClr val="073763"/>
              </a:buClr>
              <a:buSzPts val="1100"/>
              <a:buFont typeface="Montserrat"/>
              <a:buChar char="●"/>
            </a:pPr>
            <a:r>
              <a:rPr lang="en-GB" sz="1100">
                <a:solidFill>
                  <a:srgbClr val="073763"/>
                </a:solidFill>
                <a:latin typeface="Montserrat"/>
                <a:ea typeface="Montserrat"/>
                <a:cs typeface="Montserrat"/>
                <a:sym typeface="Montserrat"/>
              </a:rPr>
              <a:t>Introduced the </a:t>
            </a:r>
            <a:r>
              <a:rPr b="1" lang="en-GB" sz="1100">
                <a:solidFill>
                  <a:srgbClr val="073763"/>
                </a:solidFill>
                <a:latin typeface="Montserrat"/>
                <a:ea typeface="Montserrat"/>
                <a:cs typeface="Montserrat"/>
                <a:sym typeface="Montserrat"/>
              </a:rPr>
              <a:t>Transformer model</a:t>
            </a:r>
            <a:r>
              <a:rPr lang="en-GB" sz="1100">
                <a:solidFill>
                  <a:srgbClr val="073763"/>
                </a:solidFill>
                <a:latin typeface="Montserrat"/>
                <a:ea typeface="Montserrat"/>
                <a:cs typeface="Montserrat"/>
                <a:sym typeface="Montserrat"/>
              </a:rPr>
              <a:t>, which understands text using </a:t>
            </a:r>
            <a:r>
              <a:rPr b="1" lang="en-GB" sz="1100">
                <a:solidFill>
                  <a:srgbClr val="073763"/>
                </a:solidFill>
                <a:latin typeface="Montserrat"/>
                <a:ea typeface="Montserrat"/>
                <a:cs typeface="Montserrat"/>
                <a:sym typeface="Montserrat"/>
              </a:rPr>
              <a:t>attention</a:t>
            </a:r>
            <a:r>
              <a:rPr lang="en-GB" sz="1100">
                <a:solidFill>
                  <a:srgbClr val="073763"/>
                </a:solidFill>
                <a:latin typeface="Montserrat"/>
                <a:ea typeface="Montserrat"/>
                <a:cs typeface="Montserrat"/>
                <a:sym typeface="Montserrat"/>
              </a:rPr>
              <a:t> instead of sequential processing.</a:t>
            </a:r>
            <a:endParaRPr sz="1100">
              <a:solidFill>
                <a:srgbClr val="073763"/>
              </a:solidFill>
              <a:latin typeface="Montserrat"/>
              <a:ea typeface="Montserrat"/>
              <a:cs typeface="Montserrat"/>
              <a:sym typeface="Montserrat"/>
            </a:endParaRPr>
          </a:p>
          <a:p>
            <a:pPr indent="-298450" lvl="0" marL="457200" rtl="0" algn="l">
              <a:spcBef>
                <a:spcPts val="0"/>
              </a:spcBef>
              <a:spcAft>
                <a:spcPts val="0"/>
              </a:spcAft>
              <a:buClr>
                <a:srgbClr val="073763"/>
              </a:buClr>
              <a:buSzPts val="1100"/>
              <a:buFont typeface="Montserrat"/>
              <a:buChar char="●"/>
            </a:pPr>
            <a:r>
              <a:rPr lang="en-GB" sz="1100">
                <a:solidFill>
                  <a:srgbClr val="073763"/>
                </a:solidFill>
                <a:latin typeface="Montserrat"/>
                <a:ea typeface="Montserrat"/>
                <a:cs typeface="Montserrat"/>
                <a:sym typeface="Montserrat"/>
              </a:rPr>
              <a:t>Attention helps the model focus on </a:t>
            </a:r>
            <a:r>
              <a:rPr b="1" lang="en-GB" sz="1100">
                <a:solidFill>
                  <a:srgbClr val="073763"/>
                </a:solidFill>
                <a:latin typeface="Montserrat"/>
                <a:ea typeface="Montserrat"/>
                <a:cs typeface="Montserrat"/>
                <a:sym typeface="Montserrat"/>
              </a:rPr>
              <a:t>important words and their relationships</a:t>
            </a:r>
            <a:r>
              <a:rPr lang="en-GB" sz="1100">
                <a:solidFill>
                  <a:srgbClr val="073763"/>
                </a:solidFill>
                <a:latin typeface="Montserrat"/>
                <a:ea typeface="Montserrat"/>
                <a:cs typeface="Montserrat"/>
                <a:sym typeface="Montserrat"/>
              </a:rPr>
              <a:t>.</a:t>
            </a:r>
            <a:endParaRPr sz="1100">
              <a:solidFill>
                <a:srgbClr val="073763"/>
              </a:solidFill>
              <a:latin typeface="Montserrat"/>
              <a:ea typeface="Montserrat"/>
              <a:cs typeface="Montserrat"/>
              <a:sym typeface="Montserrat"/>
            </a:endParaRPr>
          </a:p>
          <a:p>
            <a:pPr indent="0" lvl="0" marL="0" rtl="0" algn="l">
              <a:spcBef>
                <a:spcPts val="1200"/>
              </a:spcBef>
              <a:spcAft>
                <a:spcPts val="0"/>
              </a:spcAft>
              <a:buClr>
                <a:schemeClr val="dk1"/>
              </a:buClr>
              <a:buSzPts val="1100"/>
              <a:buFont typeface="Arial"/>
              <a:buNone/>
            </a:pPr>
            <a:r>
              <a:rPr b="1" lang="en-GB" sz="1100">
                <a:solidFill>
                  <a:srgbClr val="073763"/>
                </a:solidFill>
                <a:latin typeface="Montserrat"/>
                <a:ea typeface="Montserrat"/>
                <a:cs typeface="Montserrat"/>
                <a:sym typeface="Montserrat"/>
              </a:rPr>
              <a:t>Data Used</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 Large-scale language translation datasets (English–German and English–French).</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Training &amp; Evaluation</a:t>
            </a:r>
            <a:endParaRPr b="1" sz="1100">
              <a:solidFill>
                <a:srgbClr val="073763"/>
              </a:solidFill>
              <a:latin typeface="Montserrat"/>
              <a:ea typeface="Montserrat"/>
              <a:cs typeface="Montserrat"/>
              <a:sym typeface="Montserrat"/>
            </a:endParaRPr>
          </a:p>
          <a:p>
            <a:pPr indent="-298450" lvl="0" marL="457200" rtl="0" algn="l">
              <a:spcBef>
                <a:spcPts val="0"/>
              </a:spcBef>
              <a:spcAft>
                <a:spcPts val="0"/>
              </a:spcAft>
              <a:buClr>
                <a:srgbClr val="073763"/>
              </a:buClr>
              <a:buSzPts val="1100"/>
              <a:buFont typeface="Montserrat"/>
              <a:buChar char="●"/>
            </a:pPr>
            <a:r>
              <a:rPr lang="en-GB" sz="1100">
                <a:solidFill>
                  <a:srgbClr val="073763"/>
                </a:solidFill>
                <a:latin typeface="Montserrat"/>
                <a:ea typeface="Montserrat"/>
                <a:cs typeface="Montserrat"/>
                <a:sym typeface="Montserrat"/>
              </a:rPr>
              <a:t>Trained on GPUs using standard optimization techniques.</a:t>
            </a:r>
            <a:endParaRPr sz="1100">
              <a:solidFill>
                <a:srgbClr val="073763"/>
              </a:solidFill>
              <a:latin typeface="Montserrat"/>
              <a:ea typeface="Montserrat"/>
              <a:cs typeface="Montserrat"/>
              <a:sym typeface="Montserrat"/>
            </a:endParaRPr>
          </a:p>
          <a:p>
            <a:pPr indent="-298450" lvl="0" marL="457200" rtl="0" algn="l">
              <a:spcBef>
                <a:spcPts val="0"/>
              </a:spcBef>
              <a:spcAft>
                <a:spcPts val="0"/>
              </a:spcAft>
              <a:buClr>
                <a:srgbClr val="073763"/>
              </a:buClr>
              <a:buSzPts val="1100"/>
              <a:buFont typeface="Montserrat"/>
              <a:buChar char="●"/>
            </a:pPr>
            <a:r>
              <a:rPr lang="en-GB" sz="1100">
                <a:solidFill>
                  <a:srgbClr val="073763"/>
                </a:solidFill>
                <a:latin typeface="Montserrat"/>
                <a:ea typeface="Montserrat"/>
                <a:cs typeface="Montserrat"/>
                <a:sym typeface="Montserrat"/>
              </a:rPr>
              <a:t> Performance measured using </a:t>
            </a:r>
            <a:r>
              <a:rPr b="1" lang="en-GB" sz="1100">
                <a:solidFill>
                  <a:srgbClr val="073763"/>
                </a:solidFill>
                <a:latin typeface="Montserrat"/>
                <a:ea typeface="Montserrat"/>
                <a:cs typeface="Montserrat"/>
                <a:sym typeface="Montserrat"/>
              </a:rPr>
              <a:t>translation accuracy scores (BLEU)</a:t>
            </a:r>
            <a:r>
              <a:rPr lang="en-GB" sz="1100">
                <a:solidFill>
                  <a:srgbClr val="073763"/>
                </a:solidFill>
                <a:latin typeface="Montserrat"/>
                <a:ea typeface="Montserrat"/>
                <a:cs typeface="Montserrat"/>
                <a:sym typeface="Montserrat"/>
              </a:rPr>
              <a:t>.</a:t>
            </a:r>
            <a:endParaRPr sz="1100">
              <a:solidFill>
                <a:srgbClr val="073763"/>
              </a:solidFill>
              <a:latin typeface="Montserrat"/>
              <a:ea typeface="Montserrat"/>
              <a:cs typeface="Montserrat"/>
              <a:sym typeface="Montserrat"/>
            </a:endParaRPr>
          </a:p>
          <a:p>
            <a:pPr indent="0" lvl="0" marL="0" rtl="0" algn="l">
              <a:spcBef>
                <a:spcPts val="1200"/>
              </a:spcBef>
              <a:spcAft>
                <a:spcPts val="1200"/>
              </a:spcAft>
              <a:buNone/>
            </a:pPr>
            <a:r>
              <a:t/>
            </a:r>
            <a:endParaRPr sz="1100">
              <a:solidFill>
                <a:srgbClr val="073763"/>
              </a:solidFill>
              <a:latin typeface="Montserrat"/>
              <a:ea typeface="Montserrat"/>
              <a:cs typeface="Montserrat"/>
              <a:sym typeface="Montserrat"/>
            </a:endParaRPr>
          </a:p>
        </p:txBody>
      </p:sp>
      <p:sp>
        <p:nvSpPr>
          <p:cNvPr id="119" name="Google Shape;119;p25"/>
          <p:cNvSpPr txBox="1"/>
          <p:nvPr/>
        </p:nvSpPr>
        <p:spPr>
          <a:xfrm>
            <a:off x="4809125" y="1076565"/>
            <a:ext cx="3927000" cy="38451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100">
                <a:solidFill>
                  <a:srgbClr val="073763"/>
                </a:solidFill>
                <a:latin typeface="Montserrat"/>
                <a:ea typeface="Montserrat"/>
                <a:cs typeface="Montserrat"/>
                <a:sym typeface="Montserrat"/>
              </a:rPr>
              <a:t>Key Results</a:t>
            </a:r>
            <a:endParaRPr sz="1100">
              <a:solidFill>
                <a:srgbClr val="073763"/>
              </a:solidFill>
              <a:latin typeface="Montserrat"/>
              <a:ea typeface="Montserrat"/>
              <a:cs typeface="Montserrat"/>
              <a:sym typeface="Montserrat"/>
            </a:endParaRPr>
          </a:p>
          <a:p>
            <a:pPr indent="-298450" lvl="0" marL="457200" rtl="0" algn="l">
              <a:lnSpc>
                <a:spcPct val="115000"/>
              </a:lnSpc>
              <a:spcBef>
                <a:spcPts val="0"/>
              </a:spcBef>
              <a:spcAft>
                <a:spcPts val="0"/>
              </a:spcAft>
              <a:buClr>
                <a:srgbClr val="073763"/>
              </a:buClr>
              <a:buSzPts val="1100"/>
              <a:buFont typeface="Montserrat"/>
              <a:buChar char="●"/>
            </a:pPr>
            <a:r>
              <a:rPr lang="en-GB" sz="1100">
                <a:solidFill>
                  <a:srgbClr val="073763"/>
                </a:solidFill>
                <a:latin typeface="Montserrat"/>
                <a:ea typeface="Montserrat"/>
                <a:cs typeface="Montserrat"/>
                <a:sym typeface="Montserrat"/>
              </a:rPr>
              <a:t>Achieved </a:t>
            </a:r>
            <a:r>
              <a:rPr b="1" lang="en-GB" sz="1100">
                <a:solidFill>
                  <a:srgbClr val="073763"/>
                </a:solidFill>
                <a:latin typeface="Montserrat"/>
                <a:ea typeface="Montserrat"/>
                <a:cs typeface="Montserrat"/>
                <a:sym typeface="Montserrat"/>
              </a:rPr>
              <a:t>better accuracy</a:t>
            </a:r>
            <a:r>
              <a:rPr lang="en-GB" sz="1100">
                <a:solidFill>
                  <a:srgbClr val="073763"/>
                </a:solidFill>
                <a:latin typeface="Montserrat"/>
                <a:ea typeface="Montserrat"/>
                <a:cs typeface="Montserrat"/>
                <a:sym typeface="Montserrat"/>
              </a:rPr>
              <a:t> than older models.</a:t>
            </a:r>
            <a:endParaRPr sz="1100">
              <a:solidFill>
                <a:srgbClr val="073763"/>
              </a:solidFill>
              <a:latin typeface="Montserrat"/>
              <a:ea typeface="Montserrat"/>
              <a:cs typeface="Montserrat"/>
              <a:sym typeface="Montserrat"/>
            </a:endParaRPr>
          </a:p>
          <a:p>
            <a:pPr indent="-298450" lvl="0" marL="457200" rtl="0" algn="l">
              <a:lnSpc>
                <a:spcPct val="115000"/>
              </a:lnSpc>
              <a:spcBef>
                <a:spcPts val="0"/>
              </a:spcBef>
              <a:spcAft>
                <a:spcPts val="0"/>
              </a:spcAft>
              <a:buClr>
                <a:srgbClr val="073763"/>
              </a:buClr>
              <a:buSzPts val="1100"/>
              <a:buFont typeface="Montserrat"/>
              <a:buChar char="●"/>
            </a:pPr>
            <a:r>
              <a:rPr lang="en-GB" sz="1100">
                <a:solidFill>
                  <a:srgbClr val="073763"/>
                </a:solidFill>
                <a:latin typeface="Montserrat"/>
                <a:ea typeface="Montserrat"/>
                <a:cs typeface="Montserrat"/>
                <a:sym typeface="Montserrat"/>
              </a:rPr>
              <a:t>Trained </a:t>
            </a:r>
            <a:r>
              <a:rPr b="1" lang="en-GB" sz="1100">
                <a:solidFill>
                  <a:srgbClr val="073763"/>
                </a:solidFill>
                <a:latin typeface="Montserrat"/>
                <a:ea typeface="Montserrat"/>
                <a:cs typeface="Montserrat"/>
                <a:sym typeface="Montserrat"/>
              </a:rPr>
              <a:t>faster and at lower cost</a:t>
            </a:r>
            <a:r>
              <a:rPr lang="en-GB" sz="1100">
                <a:solidFill>
                  <a:srgbClr val="073763"/>
                </a:solidFill>
                <a:latin typeface="Montserrat"/>
                <a:ea typeface="Montserrat"/>
                <a:cs typeface="Montserrat"/>
                <a:sym typeface="Montserrat"/>
              </a:rPr>
              <a:t>.</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b="1" lang="en-GB" sz="1100">
                <a:solidFill>
                  <a:srgbClr val="073763"/>
                </a:solidFill>
                <a:latin typeface="Montserrat"/>
                <a:ea typeface="Montserrat"/>
                <a:cs typeface="Montserrat"/>
                <a:sym typeface="Montserrat"/>
              </a:rPr>
              <a:t>Conclusion</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 Attention alone is enough to understand language effectively.This approach is simpler, faster, and more scalable.</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b="1" lang="en-GB" sz="1100">
                <a:solidFill>
                  <a:srgbClr val="073763"/>
                </a:solidFill>
                <a:latin typeface="Montserrat"/>
                <a:ea typeface="Montserrat"/>
                <a:cs typeface="Montserrat"/>
                <a:sym typeface="Montserrat"/>
              </a:rPr>
              <a:t>Future Scope</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Applying this method to other data types like documents, images, and long texts.</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Relevance to Our Project (RAG &amp; Agentic AI)</a:t>
            </a:r>
            <a:endParaRPr b="1" sz="1100">
              <a:solidFill>
                <a:srgbClr val="073763"/>
              </a:solidFill>
              <a:latin typeface="Montserrat"/>
              <a:ea typeface="Montserrat"/>
              <a:cs typeface="Montserrat"/>
              <a:sym typeface="Montserrat"/>
            </a:endParaRPr>
          </a:p>
          <a:p>
            <a:pPr indent="-298450" lvl="0" marL="457200" rtl="0" algn="l">
              <a:lnSpc>
                <a:spcPct val="115000"/>
              </a:lnSpc>
              <a:spcBef>
                <a:spcPts val="0"/>
              </a:spcBef>
              <a:spcAft>
                <a:spcPts val="0"/>
              </a:spcAft>
              <a:buClr>
                <a:srgbClr val="073763"/>
              </a:buClr>
              <a:buSzPts val="1100"/>
              <a:buFont typeface="Montserrat"/>
              <a:buChar char="●"/>
            </a:pPr>
            <a:r>
              <a:rPr lang="en-GB" sz="1100">
                <a:solidFill>
                  <a:srgbClr val="073763"/>
                </a:solidFill>
                <a:latin typeface="Montserrat"/>
                <a:ea typeface="Montserrat"/>
                <a:cs typeface="Montserrat"/>
                <a:sym typeface="Montserrat"/>
              </a:rPr>
              <a:t>This paper is the </a:t>
            </a:r>
            <a:r>
              <a:rPr b="1" lang="en-GB" sz="1100">
                <a:solidFill>
                  <a:srgbClr val="073763"/>
                </a:solidFill>
                <a:latin typeface="Montserrat"/>
                <a:ea typeface="Montserrat"/>
                <a:cs typeface="Montserrat"/>
                <a:sym typeface="Montserrat"/>
              </a:rPr>
              <a:t>foundation of modern LLMs</a:t>
            </a:r>
            <a:r>
              <a:rPr lang="en-GB" sz="1100">
                <a:solidFill>
                  <a:srgbClr val="073763"/>
                </a:solidFill>
                <a:latin typeface="Montserrat"/>
                <a:ea typeface="Montserrat"/>
                <a:cs typeface="Montserrat"/>
                <a:sym typeface="Montserrat"/>
              </a:rPr>
              <a:t> used in RAG systems.</a:t>
            </a:r>
            <a:endParaRPr sz="1100">
              <a:solidFill>
                <a:srgbClr val="073763"/>
              </a:solidFill>
              <a:latin typeface="Montserrat"/>
              <a:ea typeface="Montserrat"/>
              <a:cs typeface="Montserrat"/>
              <a:sym typeface="Montserrat"/>
            </a:endParaRPr>
          </a:p>
          <a:p>
            <a:pPr indent="-298450" lvl="0" marL="457200" rtl="0" algn="l">
              <a:lnSpc>
                <a:spcPct val="115000"/>
              </a:lnSpc>
              <a:spcBef>
                <a:spcPts val="0"/>
              </a:spcBef>
              <a:spcAft>
                <a:spcPts val="0"/>
              </a:spcAft>
              <a:buClr>
                <a:srgbClr val="073763"/>
              </a:buClr>
              <a:buSzPts val="1100"/>
              <a:buFont typeface="Montserrat"/>
              <a:buChar char="●"/>
            </a:pPr>
            <a:r>
              <a:rPr lang="en-GB" sz="1100">
                <a:solidFill>
                  <a:srgbClr val="073763"/>
                </a:solidFill>
                <a:latin typeface="Montserrat"/>
                <a:ea typeface="Montserrat"/>
                <a:cs typeface="Montserrat"/>
                <a:sym typeface="Montserrat"/>
              </a:rPr>
              <a:t>Attention helps retrieve the </a:t>
            </a:r>
            <a:r>
              <a:rPr b="1" lang="en-GB" sz="1100">
                <a:solidFill>
                  <a:srgbClr val="073763"/>
                </a:solidFill>
                <a:latin typeface="Montserrat"/>
                <a:ea typeface="Montserrat"/>
                <a:cs typeface="Montserrat"/>
                <a:sym typeface="Montserrat"/>
              </a:rPr>
              <a:t>most relevant information</a:t>
            </a:r>
            <a:r>
              <a:rPr lang="en-GB" sz="1100">
                <a:solidFill>
                  <a:srgbClr val="073763"/>
                </a:solidFill>
                <a:latin typeface="Montserrat"/>
                <a:ea typeface="Montserrat"/>
                <a:cs typeface="Montserrat"/>
                <a:sym typeface="Montserrat"/>
              </a:rPr>
              <a:t> and enables better reasoning in AI agents.</a:t>
            </a:r>
            <a:endParaRPr sz="1100">
              <a:solidFill>
                <a:srgbClr val="073763"/>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 name="Shape 123"/>
        <p:cNvGrpSpPr/>
        <p:nvPr/>
      </p:nvGrpSpPr>
      <p:grpSpPr>
        <a:xfrm>
          <a:off x="0" y="0"/>
          <a:ext cx="0" cy="0"/>
          <a:chOff x="0" y="0"/>
          <a:chExt cx="0" cy="0"/>
        </a:xfrm>
      </p:grpSpPr>
      <p:sp>
        <p:nvSpPr>
          <p:cNvPr id="124" name="Google Shape;124;p26"/>
          <p:cNvSpPr txBox="1"/>
          <p:nvPr>
            <p:ph type="title"/>
          </p:nvPr>
        </p:nvSpPr>
        <p:spPr>
          <a:xfrm>
            <a:off x="311700" y="30895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SemiBold"/>
                <a:ea typeface="Montserrat SemiBold"/>
                <a:cs typeface="Montserrat SemiBold"/>
                <a:sym typeface="Montserrat SemiBold"/>
              </a:rPr>
              <a:t>Literature Summary #2 </a:t>
            </a:r>
            <a:r>
              <a:rPr i="1" lang="en-GB" sz="2022" u="sng">
                <a:solidFill>
                  <a:srgbClr val="0000FF"/>
                </a:solidFill>
                <a:latin typeface="Montserrat SemiBold"/>
                <a:ea typeface="Montserrat SemiBold"/>
                <a:cs typeface="Montserrat SemiBold"/>
                <a:sym typeface="Montserrat SemiBold"/>
                <a:hlinkClick r:id="rId3">
                  <a:extLst>
                    <a:ext uri="{A12FA001-AC4F-418D-AE19-62706E023703}">
                      <ahyp:hlinkClr val="tx"/>
                    </a:ext>
                  </a:extLst>
                </a:hlinkClick>
              </a:rPr>
              <a:t>(RAG for NLP Intensive Tasks)</a:t>
            </a:r>
            <a:endParaRPr i="1" sz="2022">
              <a:solidFill>
                <a:srgbClr val="0000FF"/>
              </a:solidFill>
              <a:latin typeface="Montserrat SemiBold"/>
              <a:ea typeface="Montserrat SemiBold"/>
              <a:cs typeface="Montserrat SemiBold"/>
              <a:sym typeface="Montserrat SemiBold"/>
            </a:endParaRPr>
          </a:p>
        </p:txBody>
      </p:sp>
      <p:sp>
        <p:nvSpPr>
          <p:cNvPr id="125" name="Google Shape;125;p26"/>
          <p:cNvSpPr txBox="1"/>
          <p:nvPr>
            <p:ph idx="1" type="body"/>
          </p:nvPr>
        </p:nvSpPr>
        <p:spPr>
          <a:xfrm>
            <a:off x="311700" y="1063477"/>
            <a:ext cx="4260300" cy="38715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None/>
            </a:pPr>
            <a:r>
              <a:rPr b="1" lang="en-GB" sz="1000">
                <a:solidFill>
                  <a:srgbClr val="073763"/>
                </a:solidFill>
                <a:latin typeface="Montserrat"/>
                <a:ea typeface="Montserrat"/>
                <a:cs typeface="Montserrat"/>
                <a:sym typeface="Montserrat"/>
              </a:rPr>
              <a:t>Problem Addressed</a:t>
            </a:r>
            <a:br>
              <a:rPr b="1" lang="en-GB" sz="1000">
                <a:solidFill>
                  <a:srgbClr val="073763"/>
                </a:solidFill>
                <a:latin typeface="Montserrat"/>
                <a:ea typeface="Montserrat"/>
                <a:cs typeface="Montserrat"/>
                <a:sym typeface="Montserrat"/>
              </a:rPr>
            </a:br>
            <a:r>
              <a:rPr lang="en-GB" sz="1000">
                <a:solidFill>
                  <a:srgbClr val="073763"/>
                </a:solidFill>
                <a:latin typeface="Montserrat"/>
                <a:ea typeface="Montserrat"/>
                <a:cs typeface="Montserrat"/>
                <a:sym typeface="Montserrat"/>
              </a:rPr>
              <a:t> Traditional language models rely only on what they learned during training, so they often give </a:t>
            </a:r>
            <a:r>
              <a:rPr b="1" lang="en-GB" sz="1000">
                <a:solidFill>
                  <a:srgbClr val="073763"/>
                </a:solidFill>
                <a:latin typeface="Montserrat"/>
                <a:ea typeface="Montserrat"/>
                <a:cs typeface="Montserrat"/>
                <a:sym typeface="Montserrat"/>
              </a:rPr>
              <a:t>outdated or incorrect answers</a:t>
            </a:r>
            <a:r>
              <a:rPr lang="en-GB" sz="1000">
                <a:solidFill>
                  <a:srgbClr val="073763"/>
                </a:solidFill>
                <a:latin typeface="Montserrat"/>
                <a:ea typeface="Montserrat"/>
                <a:cs typeface="Montserrat"/>
                <a:sym typeface="Montserrat"/>
              </a:rPr>
              <a:t> and cannot reference external knowledge.</a:t>
            </a:r>
            <a:endParaRPr sz="10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000">
                <a:solidFill>
                  <a:srgbClr val="073763"/>
                </a:solidFill>
                <a:latin typeface="Montserrat"/>
                <a:ea typeface="Montserrat"/>
                <a:cs typeface="Montserrat"/>
                <a:sym typeface="Montserrat"/>
              </a:rPr>
              <a:t>Method Used</a:t>
            </a:r>
            <a:endParaRPr b="1" sz="1000">
              <a:solidFill>
                <a:srgbClr val="073763"/>
              </a:solidFill>
              <a:latin typeface="Montserrat"/>
              <a:ea typeface="Montserrat"/>
              <a:cs typeface="Montserrat"/>
              <a:sym typeface="Montserrat"/>
            </a:endParaRPr>
          </a:p>
          <a:p>
            <a:pPr indent="-292100" lvl="0" marL="457200" rtl="0" algn="l">
              <a:spcBef>
                <a:spcPts val="0"/>
              </a:spcBef>
              <a:spcAft>
                <a:spcPts val="0"/>
              </a:spcAft>
              <a:buClr>
                <a:srgbClr val="073763"/>
              </a:buClr>
              <a:buSzPts val="1000"/>
              <a:buFont typeface="Montserrat"/>
              <a:buChar char="●"/>
            </a:pPr>
            <a:r>
              <a:rPr lang="en-GB" sz="1000">
                <a:solidFill>
                  <a:srgbClr val="073763"/>
                </a:solidFill>
                <a:latin typeface="Montserrat"/>
                <a:ea typeface="Montserrat"/>
                <a:cs typeface="Montserrat"/>
                <a:sym typeface="Montserrat"/>
              </a:rPr>
              <a:t>The paper introduces </a:t>
            </a:r>
            <a:r>
              <a:rPr b="1" lang="en-GB" sz="1000">
                <a:solidFill>
                  <a:srgbClr val="073763"/>
                </a:solidFill>
                <a:latin typeface="Montserrat"/>
                <a:ea typeface="Montserrat"/>
                <a:cs typeface="Montserrat"/>
                <a:sym typeface="Montserrat"/>
              </a:rPr>
              <a:t>Retrieval-Augmented Generation (RAG)</a:t>
            </a:r>
            <a:r>
              <a:rPr lang="en-GB" sz="1000">
                <a:solidFill>
                  <a:srgbClr val="073763"/>
                </a:solidFill>
                <a:latin typeface="Montserrat"/>
                <a:ea typeface="Montserrat"/>
                <a:cs typeface="Montserrat"/>
                <a:sym typeface="Montserrat"/>
              </a:rPr>
              <a:t>, which combines </a:t>
            </a:r>
            <a:r>
              <a:rPr b="1" lang="en-GB" sz="1000">
                <a:solidFill>
                  <a:srgbClr val="073763"/>
                </a:solidFill>
                <a:latin typeface="Montserrat"/>
                <a:ea typeface="Montserrat"/>
                <a:cs typeface="Montserrat"/>
                <a:sym typeface="Montserrat"/>
              </a:rPr>
              <a:t>document retrieval</a:t>
            </a:r>
            <a:r>
              <a:rPr lang="en-GB" sz="1000">
                <a:solidFill>
                  <a:srgbClr val="073763"/>
                </a:solidFill>
                <a:latin typeface="Montserrat"/>
                <a:ea typeface="Montserrat"/>
                <a:cs typeface="Montserrat"/>
                <a:sym typeface="Montserrat"/>
              </a:rPr>
              <a:t> with </a:t>
            </a:r>
            <a:r>
              <a:rPr b="1" lang="en-GB" sz="1000">
                <a:solidFill>
                  <a:srgbClr val="073763"/>
                </a:solidFill>
                <a:latin typeface="Montserrat"/>
                <a:ea typeface="Montserrat"/>
                <a:cs typeface="Montserrat"/>
                <a:sym typeface="Montserrat"/>
              </a:rPr>
              <a:t>text generation</a:t>
            </a:r>
            <a:r>
              <a:rPr lang="en-GB" sz="1000">
                <a:solidFill>
                  <a:srgbClr val="073763"/>
                </a:solidFill>
                <a:latin typeface="Montserrat"/>
                <a:ea typeface="Montserrat"/>
                <a:cs typeface="Montserrat"/>
                <a:sym typeface="Montserrat"/>
              </a:rPr>
              <a:t> to produce more accurate answers</a:t>
            </a:r>
            <a:endParaRPr sz="1000">
              <a:solidFill>
                <a:srgbClr val="073763"/>
              </a:solidFill>
              <a:latin typeface="Montserrat"/>
              <a:ea typeface="Montserrat"/>
              <a:cs typeface="Montserrat"/>
              <a:sym typeface="Montserrat"/>
            </a:endParaRPr>
          </a:p>
          <a:p>
            <a:pPr indent="-292100" lvl="0" marL="457200" rtl="0" algn="l">
              <a:spcBef>
                <a:spcPts val="0"/>
              </a:spcBef>
              <a:spcAft>
                <a:spcPts val="0"/>
              </a:spcAft>
              <a:buClr>
                <a:srgbClr val="073763"/>
              </a:buClr>
              <a:buSzPts val="1000"/>
              <a:buFont typeface="Montserrat"/>
              <a:buChar char="●"/>
            </a:pPr>
            <a:r>
              <a:rPr lang="en-GB" sz="1000">
                <a:solidFill>
                  <a:srgbClr val="073763"/>
                </a:solidFill>
                <a:latin typeface="Montserrat"/>
                <a:ea typeface="Montserrat"/>
                <a:cs typeface="Montserrat"/>
                <a:sym typeface="Montserrat"/>
              </a:rPr>
              <a:t>First, relevant documents are retrieved from a knowledge base.Then, the language model uses this retrieved information to generate the final response</a:t>
            </a:r>
            <a:endParaRPr sz="10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000">
                <a:solidFill>
                  <a:srgbClr val="073763"/>
                </a:solidFill>
                <a:latin typeface="Montserrat"/>
                <a:ea typeface="Montserrat"/>
                <a:cs typeface="Montserrat"/>
                <a:sym typeface="Montserrat"/>
              </a:rPr>
              <a:t>Data Used</a:t>
            </a:r>
            <a:br>
              <a:rPr b="1" lang="en-GB" sz="1000">
                <a:solidFill>
                  <a:srgbClr val="073763"/>
                </a:solidFill>
                <a:latin typeface="Montserrat"/>
                <a:ea typeface="Montserrat"/>
                <a:cs typeface="Montserrat"/>
                <a:sym typeface="Montserrat"/>
              </a:rPr>
            </a:br>
            <a:r>
              <a:rPr lang="en-GB" sz="1000">
                <a:solidFill>
                  <a:srgbClr val="073763"/>
                </a:solidFill>
                <a:latin typeface="Montserrat"/>
                <a:ea typeface="Montserrat"/>
                <a:cs typeface="Montserrat"/>
                <a:sym typeface="Montserrat"/>
              </a:rPr>
              <a:t> </a:t>
            </a:r>
            <a:r>
              <a:rPr lang="en-GB" sz="1000">
                <a:solidFill>
                  <a:srgbClr val="073763"/>
                </a:solidFill>
                <a:latin typeface="Montserrat"/>
                <a:ea typeface="Montserrat"/>
                <a:cs typeface="Montserrat"/>
                <a:sym typeface="Montserrat"/>
              </a:rPr>
              <a:t>Large text collections such as </a:t>
            </a:r>
            <a:r>
              <a:rPr b="1" lang="en-GB" sz="1000">
                <a:solidFill>
                  <a:srgbClr val="073763"/>
                </a:solidFill>
                <a:latin typeface="Montserrat"/>
                <a:ea typeface="Montserrat"/>
                <a:cs typeface="Montserrat"/>
                <a:sym typeface="Montserrat"/>
              </a:rPr>
              <a:t>Wikipedia</a:t>
            </a:r>
            <a:r>
              <a:rPr lang="en-GB" sz="1000">
                <a:solidFill>
                  <a:srgbClr val="073763"/>
                </a:solidFill>
                <a:latin typeface="Montserrat"/>
                <a:ea typeface="Montserrat"/>
                <a:cs typeface="Montserrat"/>
                <a:sym typeface="Montserrat"/>
              </a:rPr>
              <a:t> were used as the external knowledge source for retrieval.</a:t>
            </a:r>
            <a:endParaRPr sz="10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000">
                <a:solidFill>
                  <a:srgbClr val="073763"/>
                </a:solidFill>
                <a:latin typeface="Montserrat"/>
                <a:ea typeface="Montserrat"/>
                <a:cs typeface="Montserrat"/>
                <a:sym typeface="Montserrat"/>
              </a:rPr>
              <a:t>Training &amp; Evaluation</a:t>
            </a:r>
            <a:endParaRPr b="1" sz="1000">
              <a:solidFill>
                <a:srgbClr val="073763"/>
              </a:solidFill>
              <a:latin typeface="Montserrat"/>
              <a:ea typeface="Montserrat"/>
              <a:cs typeface="Montserrat"/>
              <a:sym typeface="Montserrat"/>
            </a:endParaRPr>
          </a:p>
          <a:p>
            <a:pPr indent="0" lvl="0" marL="0" rtl="0" algn="l">
              <a:spcBef>
                <a:spcPts val="0"/>
              </a:spcBef>
              <a:spcAft>
                <a:spcPts val="1200"/>
              </a:spcAft>
              <a:buClr>
                <a:schemeClr val="dk1"/>
              </a:buClr>
              <a:buSzPts val="1100"/>
              <a:buFont typeface="Arial"/>
              <a:buNone/>
            </a:pPr>
            <a:r>
              <a:rPr lang="en-GB" sz="1000">
                <a:solidFill>
                  <a:srgbClr val="073763"/>
                </a:solidFill>
                <a:latin typeface="Montserrat"/>
                <a:ea typeface="Montserrat"/>
                <a:cs typeface="Montserrat"/>
                <a:sym typeface="Montserrat"/>
              </a:rPr>
              <a:t>The model was trained end-to-end and evaluated on </a:t>
            </a:r>
            <a:r>
              <a:rPr b="1" lang="en-GB" sz="1000">
                <a:solidFill>
                  <a:srgbClr val="073763"/>
                </a:solidFill>
                <a:latin typeface="Montserrat"/>
                <a:ea typeface="Montserrat"/>
                <a:cs typeface="Montserrat"/>
                <a:sym typeface="Montserrat"/>
              </a:rPr>
              <a:t>question-answering and knowledge-based tasks</a:t>
            </a:r>
            <a:r>
              <a:rPr lang="en-GB" sz="1000">
                <a:solidFill>
                  <a:srgbClr val="073763"/>
                </a:solidFill>
                <a:latin typeface="Montserrat"/>
                <a:ea typeface="Montserrat"/>
                <a:cs typeface="Montserrat"/>
                <a:sym typeface="Montserrat"/>
              </a:rPr>
              <a:t> using Standard accuracy metrics.</a:t>
            </a:r>
            <a:endParaRPr b="1" sz="1000">
              <a:solidFill>
                <a:srgbClr val="073763"/>
              </a:solidFill>
              <a:latin typeface="Montserrat"/>
              <a:ea typeface="Montserrat"/>
              <a:cs typeface="Montserrat"/>
              <a:sym typeface="Montserrat"/>
            </a:endParaRPr>
          </a:p>
        </p:txBody>
      </p:sp>
      <p:sp>
        <p:nvSpPr>
          <p:cNvPr id="126" name="Google Shape;126;p26"/>
          <p:cNvSpPr txBox="1"/>
          <p:nvPr/>
        </p:nvSpPr>
        <p:spPr>
          <a:xfrm>
            <a:off x="4809125" y="1076565"/>
            <a:ext cx="3927000" cy="38451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073763"/>
                </a:solidFill>
                <a:latin typeface="Montserrat"/>
                <a:ea typeface="Montserrat"/>
                <a:cs typeface="Montserrat"/>
                <a:sym typeface="Montserrat"/>
              </a:rPr>
              <a:t>Key Results</a:t>
            </a:r>
            <a:endParaRPr sz="1000">
              <a:solidFill>
                <a:srgbClr val="073763"/>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GB" sz="1000">
                <a:solidFill>
                  <a:srgbClr val="073763"/>
                </a:solidFill>
                <a:latin typeface="Montserrat"/>
                <a:ea typeface="Montserrat"/>
                <a:cs typeface="Montserrat"/>
                <a:sym typeface="Montserrat"/>
              </a:rPr>
              <a:t>RAG models performed </a:t>
            </a:r>
            <a:r>
              <a:rPr b="1" lang="en-GB" sz="1000">
                <a:solidFill>
                  <a:srgbClr val="073763"/>
                </a:solidFill>
                <a:latin typeface="Montserrat"/>
                <a:ea typeface="Montserrat"/>
                <a:cs typeface="Montserrat"/>
                <a:sym typeface="Montserrat"/>
              </a:rPr>
              <a:t>better than traditional language models</a:t>
            </a:r>
            <a:r>
              <a:rPr lang="en-GB" sz="1000">
                <a:solidFill>
                  <a:srgbClr val="073763"/>
                </a:solidFill>
                <a:latin typeface="Montserrat"/>
                <a:ea typeface="Montserrat"/>
                <a:cs typeface="Montserrat"/>
                <a:sym typeface="Montserrat"/>
              </a:rPr>
              <a:t>, especially on tasks requiring factual or external knowledge.</a:t>
            </a:r>
            <a:endParaRPr sz="10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000">
                <a:solidFill>
                  <a:srgbClr val="073763"/>
                </a:solidFill>
                <a:latin typeface="Montserrat"/>
                <a:ea typeface="Montserrat"/>
                <a:cs typeface="Montserrat"/>
                <a:sym typeface="Montserrat"/>
              </a:rPr>
              <a:t>Conclusion</a:t>
            </a:r>
            <a:br>
              <a:rPr b="1" lang="en-GB" sz="1000">
                <a:solidFill>
                  <a:srgbClr val="073763"/>
                </a:solidFill>
                <a:latin typeface="Montserrat"/>
                <a:ea typeface="Montserrat"/>
                <a:cs typeface="Montserrat"/>
                <a:sym typeface="Montserrat"/>
              </a:rPr>
            </a:br>
            <a:r>
              <a:rPr lang="en-GB" sz="1000">
                <a:solidFill>
                  <a:srgbClr val="073763"/>
                </a:solidFill>
                <a:latin typeface="Montserrat"/>
                <a:ea typeface="Montserrat"/>
                <a:cs typeface="Montserrat"/>
                <a:sym typeface="Montserrat"/>
              </a:rPr>
              <a:t>Combining retrieval with generation leads to </a:t>
            </a:r>
            <a:r>
              <a:rPr b="1" lang="en-GB" sz="1000">
                <a:solidFill>
                  <a:srgbClr val="073763"/>
                </a:solidFill>
                <a:latin typeface="Montserrat"/>
                <a:ea typeface="Montserrat"/>
                <a:cs typeface="Montserrat"/>
                <a:sym typeface="Montserrat"/>
              </a:rPr>
              <a:t>more reliable, explainable, and up-to-date responses</a:t>
            </a:r>
            <a:r>
              <a:rPr lang="en-GB" sz="1000">
                <a:solidFill>
                  <a:srgbClr val="073763"/>
                </a:solidFill>
                <a:latin typeface="Montserrat"/>
                <a:ea typeface="Montserrat"/>
                <a:cs typeface="Montserrat"/>
                <a:sym typeface="Montserrat"/>
              </a:rPr>
              <a:t> compared to standalone language models.</a:t>
            </a:r>
            <a:endParaRPr sz="10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000">
                <a:solidFill>
                  <a:srgbClr val="073763"/>
                </a:solidFill>
                <a:latin typeface="Montserrat"/>
                <a:ea typeface="Montserrat"/>
                <a:cs typeface="Montserrat"/>
                <a:sym typeface="Montserrat"/>
              </a:rPr>
              <a:t>Future Scope</a:t>
            </a:r>
            <a:br>
              <a:rPr b="1" lang="en-GB" sz="1000">
                <a:solidFill>
                  <a:srgbClr val="073763"/>
                </a:solidFill>
                <a:latin typeface="Montserrat"/>
                <a:ea typeface="Montserrat"/>
                <a:cs typeface="Montserrat"/>
                <a:sym typeface="Montserrat"/>
              </a:rPr>
            </a:br>
            <a:r>
              <a:rPr lang="en-GB" sz="1000">
                <a:solidFill>
                  <a:srgbClr val="073763"/>
                </a:solidFill>
                <a:latin typeface="Montserrat"/>
                <a:ea typeface="Montserrat"/>
                <a:cs typeface="Montserrat"/>
                <a:sym typeface="Montserrat"/>
              </a:rPr>
              <a:t> Improving retrieval quality, scaling to larger knowledge bases, and applying RAG to real-world systems.</a:t>
            </a:r>
            <a:endParaRPr sz="10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000">
                <a:solidFill>
                  <a:srgbClr val="073763"/>
                </a:solidFill>
                <a:latin typeface="Montserrat"/>
                <a:ea typeface="Montserrat"/>
                <a:cs typeface="Montserrat"/>
                <a:sym typeface="Montserrat"/>
              </a:rPr>
              <a:t>Relevance to Our Project (RAG &amp; Agentic AI)</a:t>
            </a:r>
            <a:endParaRPr b="1" sz="1000">
              <a:solidFill>
                <a:srgbClr val="073763"/>
              </a:solidFill>
              <a:latin typeface="Montserrat"/>
              <a:ea typeface="Montserrat"/>
              <a:cs typeface="Montserrat"/>
              <a:sym typeface="Montserrat"/>
            </a:endParaRPr>
          </a:p>
          <a:p>
            <a:pPr indent="0" lvl="0" marL="0" rtl="0" algn="l">
              <a:lnSpc>
                <a:spcPct val="115000"/>
              </a:lnSpc>
              <a:spcBef>
                <a:spcPts val="0"/>
              </a:spcBef>
              <a:spcAft>
                <a:spcPts val="1200"/>
              </a:spcAft>
              <a:buClr>
                <a:schemeClr val="dk1"/>
              </a:buClr>
              <a:buSzPts val="1100"/>
              <a:buFont typeface="Arial"/>
              <a:buNone/>
            </a:pPr>
            <a:r>
              <a:rPr lang="en-GB" sz="1000">
                <a:solidFill>
                  <a:srgbClr val="073763"/>
                </a:solidFill>
                <a:latin typeface="Montserrat"/>
                <a:ea typeface="Montserrat"/>
                <a:cs typeface="Montserrat"/>
                <a:sym typeface="Montserrat"/>
              </a:rPr>
              <a:t>This paper forms the </a:t>
            </a:r>
            <a:r>
              <a:rPr b="1" lang="en-GB" sz="1000">
                <a:solidFill>
                  <a:srgbClr val="073763"/>
                </a:solidFill>
                <a:latin typeface="Montserrat"/>
                <a:ea typeface="Montserrat"/>
                <a:cs typeface="Montserrat"/>
                <a:sym typeface="Montserrat"/>
              </a:rPr>
              <a:t>core foundation of our project</a:t>
            </a:r>
            <a:r>
              <a:rPr lang="en-GB" sz="1000">
                <a:solidFill>
                  <a:srgbClr val="073763"/>
                </a:solidFill>
                <a:latin typeface="Montserrat"/>
                <a:ea typeface="Montserrat"/>
                <a:cs typeface="Montserrat"/>
                <a:sym typeface="Montserrat"/>
              </a:rPr>
              <a:t>, where agents retrieve relevant information and generate personalized, knowledge-grounded recommendations.</a:t>
            </a:r>
            <a:endParaRPr b="1" sz="1000">
              <a:solidFill>
                <a:srgbClr val="073763"/>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311700" y="30895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4395"/>
              <a:buFont typeface="Arial"/>
              <a:buNone/>
            </a:pPr>
            <a:r>
              <a:rPr lang="en-GB">
                <a:latin typeface="Montserrat SemiBold"/>
                <a:ea typeface="Montserrat SemiBold"/>
                <a:cs typeface="Montserrat SemiBold"/>
                <a:sym typeface="Montserrat SemiBold"/>
              </a:rPr>
              <a:t>Literature Summary #3 </a:t>
            </a:r>
            <a:r>
              <a:rPr i="1" lang="en-GB" sz="2022" u="sng">
                <a:solidFill>
                  <a:srgbClr val="0000FF"/>
                </a:solidFill>
                <a:latin typeface="Montserrat SemiBold"/>
                <a:ea typeface="Montserrat SemiBold"/>
                <a:cs typeface="Montserrat SemiBold"/>
                <a:sym typeface="Montserrat SemiBold"/>
                <a:hlinkClick r:id="rId3">
                  <a:extLst>
                    <a:ext uri="{A12FA001-AC4F-418D-AE19-62706E023703}">
                      <ahyp:hlinkClr val="tx"/>
                    </a:ext>
                  </a:extLst>
                </a:hlinkClick>
              </a:rPr>
              <a:t>(Embeddings &amp; Doc Vectors)</a:t>
            </a:r>
            <a:endParaRPr i="1" sz="2022">
              <a:solidFill>
                <a:srgbClr val="0000FF"/>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a:latin typeface="Montserrat SemiBold"/>
              <a:ea typeface="Montserrat SemiBold"/>
              <a:cs typeface="Montserrat SemiBold"/>
              <a:sym typeface="Montserrat SemiBold"/>
            </a:endParaRPr>
          </a:p>
        </p:txBody>
      </p:sp>
      <p:sp>
        <p:nvSpPr>
          <p:cNvPr id="132" name="Google Shape;132;p27"/>
          <p:cNvSpPr txBox="1"/>
          <p:nvPr>
            <p:ph idx="1" type="body"/>
          </p:nvPr>
        </p:nvSpPr>
        <p:spPr>
          <a:xfrm>
            <a:off x="311700" y="1063475"/>
            <a:ext cx="4260300" cy="39486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None/>
            </a:pPr>
            <a:r>
              <a:rPr b="1" lang="en-GB" sz="1000">
                <a:solidFill>
                  <a:srgbClr val="073763"/>
                </a:solidFill>
                <a:latin typeface="Montserrat"/>
                <a:ea typeface="Montserrat"/>
                <a:cs typeface="Montserrat"/>
                <a:sym typeface="Montserrat"/>
              </a:rPr>
              <a:t>Problem Addressed</a:t>
            </a:r>
            <a:br>
              <a:rPr b="1" lang="en-GB" sz="1000">
                <a:solidFill>
                  <a:srgbClr val="073763"/>
                </a:solidFill>
                <a:latin typeface="Montserrat"/>
                <a:ea typeface="Montserrat"/>
                <a:cs typeface="Montserrat"/>
                <a:sym typeface="Montserrat"/>
              </a:rPr>
            </a:br>
            <a:r>
              <a:rPr lang="en-GB" sz="1000">
                <a:solidFill>
                  <a:srgbClr val="073763"/>
                </a:solidFill>
                <a:latin typeface="Montserrat"/>
                <a:ea typeface="Montserrat"/>
                <a:cs typeface="Montserrat"/>
                <a:sym typeface="Montserrat"/>
              </a:rPr>
              <a:t> </a:t>
            </a:r>
            <a:r>
              <a:rPr lang="en-GB" sz="1100">
                <a:solidFill>
                  <a:srgbClr val="073763"/>
                </a:solidFill>
                <a:latin typeface="Montserrat"/>
                <a:ea typeface="Montserrat"/>
                <a:cs typeface="Montserrat"/>
                <a:sym typeface="Montserrat"/>
              </a:rPr>
              <a:t>Earlier translation models tried to compress an entire sentence into a single fixed representation, which caused </a:t>
            </a:r>
            <a:r>
              <a:rPr b="1" lang="en-GB" sz="1100">
                <a:solidFill>
                  <a:srgbClr val="073763"/>
                </a:solidFill>
                <a:latin typeface="Montserrat"/>
                <a:ea typeface="Montserrat"/>
                <a:cs typeface="Montserrat"/>
                <a:sym typeface="Montserrat"/>
              </a:rPr>
              <a:t>information loss</a:t>
            </a:r>
            <a:r>
              <a:rPr lang="en-GB" sz="1100">
                <a:solidFill>
                  <a:srgbClr val="073763"/>
                </a:solidFill>
                <a:latin typeface="Montserrat"/>
                <a:ea typeface="Montserrat"/>
                <a:cs typeface="Montserrat"/>
                <a:sym typeface="Montserrat"/>
              </a:rPr>
              <a:t>, especially for long sentences.</a:t>
            </a:r>
            <a:endParaRPr sz="10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000">
                <a:solidFill>
                  <a:srgbClr val="073763"/>
                </a:solidFill>
                <a:latin typeface="Montserrat"/>
                <a:ea typeface="Montserrat"/>
                <a:cs typeface="Montserrat"/>
                <a:sym typeface="Montserrat"/>
              </a:rPr>
              <a:t>Method Used</a:t>
            </a:r>
            <a:endParaRPr b="1" sz="1000">
              <a:solidFill>
                <a:srgbClr val="073763"/>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GB" sz="1100">
                <a:solidFill>
                  <a:srgbClr val="073763"/>
                </a:solidFill>
                <a:latin typeface="Montserrat"/>
                <a:ea typeface="Montserrat"/>
                <a:cs typeface="Montserrat"/>
                <a:sym typeface="Montserrat"/>
              </a:rPr>
              <a:t>The paper introduced the </a:t>
            </a:r>
            <a:r>
              <a:rPr b="1" lang="en-GB" sz="1100">
                <a:solidFill>
                  <a:srgbClr val="073763"/>
                </a:solidFill>
                <a:latin typeface="Montserrat"/>
                <a:ea typeface="Montserrat"/>
                <a:cs typeface="Montserrat"/>
                <a:sym typeface="Montserrat"/>
              </a:rPr>
              <a:t>Attention mechanism</a:t>
            </a:r>
            <a:r>
              <a:rPr lang="en-GB" sz="1100">
                <a:solidFill>
                  <a:srgbClr val="073763"/>
                </a:solidFill>
                <a:latin typeface="Montserrat"/>
                <a:ea typeface="Montserrat"/>
                <a:cs typeface="Montserrat"/>
                <a:sym typeface="Montserrat"/>
              </a:rPr>
              <a:t>, allowing the model to focus on </a:t>
            </a:r>
            <a:r>
              <a:rPr b="1" lang="en-GB" sz="1100">
                <a:solidFill>
                  <a:srgbClr val="073763"/>
                </a:solidFill>
                <a:latin typeface="Montserrat"/>
                <a:ea typeface="Montserrat"/>
                <a:cs typeface="Montserrat"/>
                <a:sym typeface="Montserrat"/>
              </a:rPr>
              <a:t>different parts of the input sentence</a:t>
            </a:r>
            <a:r>
              <a:rPr lang="en-GB" sz="1100">
                <a:solidFill>
                  <a:srgbClr val="073763"/>
                </a:solidFill>
                <a:latin typeface="Montserrat"/>
                <a:ea typeface="Montserrat"/>
                <a:cs typeface="Montserrat"/>
                <a:sym typeface="Montserrat"/>
              </a:rPr>
              <a:t> while generating each word.  Instead of remembering everything at once, the model </a:t>
            </a:r>
            <a:r>
              <a:rPr b="1" lang="en-GB" sz="1100">
                <a:solidFill>
                  <a:srgbClr val="073763"/>
                </a:solidFill>
                <a:latin typeface="Montserrat"/>
                <a:ea typeface="Montserrat"/>
                <a:cs typeface="Montserrat"/>
                <a:sym typeface="Montserrat"/>
              </a:rPr>
              <a:t>looks back at relevant words</a:t>
            </a:r>
            <a:r>
              <a:rPr lang="en-GB" sz="1100">
                <a:solidFill>
                  <a:srgbClr val="073763"/>
                </a:solidFill>
                <a:latin typeface="Montserrat"/>
                <a:ea typeface="Montserrat"/>
                <a:cs typeface="Montserrat"/>
                <a:sym typeface="Montserrat"/>
              </a:rPr>
              <a:t> in the source sentence during translation.</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000">
                <a:solidFill>
                  <a:srgbClr val="073763"/>
                </a:solidFill>
                <a:latin typeface="Montserrat"/>
                <a:ea typeface="Montserrat"/>
                <a:cs typeface="Montserrat"/>
                <a:sym typeface="Montserrat"/>
              </a:rPr>
              <a:t>Data Used</a:t>
            </a:r>
            <a:br>
              <a:rPr b="1" lang="en-GB" sz="10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Standard </a:t>
            </a:r>
            <a:r>
              <a:rPr b="1" lang="en-GB" sz="1100">
                <a:solidFill>
                  <a:srgbClr val="073763"/>
                </a:solidFill>
                <a:latin typeface="Montserrat"/>
                <a:ea typeface="Montserrat"/>
                <a:cs typeface="Montserrat"/>
                <a:sym typeface="Montserrat"/>
              </a:rPr>
              <a:t>machine translation datasets</a:t>
            </a:r>
            <a:r>
              <a:rPr lang="en-GB" sz="1100">
                <a:solidFill>
                  <a:srgbClr val="073763"/>
                </a:solidFill>
                <a:latin typeface="Montserrat"/>
                <a:ea typeface="Montserrat"/>
                <a:cs typeface="Montserrat"/>
                <a:sym typeface="Montserrat"/>
              </a:rPr>
              <a:t> with paired source and target language sentences.</a:t>
            </a:r>
            <a:endParaRPr sz="10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000">
                <a:solidFill>
                  <a:srgbClr val="073763"/>
                </a:solidFill>
                <a:latin typeface="Montserrat"/>
                <a:ea typeface="Montserrat"/>
                <a:cs typeface="Montserrat"/>
                <a:sym typeface="Montserrat"/>
              </a:rPr>
              <a:t>Training &amp; Evaluation</a:t>
            </a:r>
            <a:endParaRPr b="1" sz="1000">
              <a:solidFill>
                <a:srgbClr val="073763"/>
              </a:solidFill>
              <a:latin typeface="Montserrat"/>
              <a:ea typeface="Montserrat"/>
              <a:cs typeface="Montserrat"/>
              <a:sym typeface="Montserrat"/>
            </a:endParaRPr>
          </a:p>
          <a:p>
            <a:pPr indent="0" lvl="0" marL="0" rtl="0" algn="l">
              <a:spcBef>
                <a:spcPts val="0"/>
              </a:spcBef>
              <a:spcAft>
                <a:spcPts val="1200"/>
              </a:spcAft>
              <a:buNone/>
            </a:pPr>
            <a:r>
              <a:rPr lang="en-GB" sz="1100">
                <a:solidFill>
                  <a:srgbClr val="073763"/>
                </a:solidFill>
                <a:latin typeface="Montserrat"/>
                <a:ea typeface="Montserrat"/>
                <a:cs typeface="Montserrat"/>
                <a:sym typeface="Montserrat"/>
              </a:rPr>
              <a:t>The model was trained using neural networks and evaluated using </a:t>
            </a:r>
            <a:r>
              <a:rPr b="1" lang="en-GB" sz="1100">
                <a:solidFill>
                  <a:srgbClr val="073763"/>
                </a:solidFill>
                <a:latin typeface="Montserrat"/>
                <a:ea typeface="Montserrat"/>
                <a:cs typeface="Montserrat"/>
                <a:sym typeface="Montserrat"/>
              </a:rPr>
              <a:t>translation accuracy metrics</a:t>
            </a:r>
            <a:r>
              <a:rPr lang="en-GB" sz="1100">
                <a:solidFill>
                  <a:srgbClr val="073763"/>
                </a:solidFill>
                <a:latin typeface="Montserrat"/>
                <a:ea typeface="Montserrat"/>
                <a:cs typeface="Montserrat"/>
                <a:sym typeface="Montserrat"/>
              </a:rPr>
              <a:t> like BLEU score.</a:t>
            </a:r>
            <a:endParaRPr b="1" sz="1000">
              <a:solidFill>
                <a:srgbClr val="073763"/>
              </a:solidFill>
              <a:latin typeface="Montserrat"/>
              <a:ea typeface="Montserrat"/>
              <a:cs typeface="Montserrat"/>
              <a:sym typeface="Montserrat"/>
            </a:endParaRPr>
          </a:p>
        </p:txBody>
      </p:sp>
      <p:sp>
        <p:nvSpPr>
          <p:cNvPr id="133" name="Google Shape;133;p27"/>
          <p:cNvSpPr txBox="1"/>
          <p:nvPr/>
        </p:nvSpPr>
        <p:spPr>
          <a:xfrm>
            <a:off x="4809125" y="1076823"/>
            <a:ext cx="3927000" cy="39216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073763"/>
                </a:solidFill>
                <a:latin typeface="Montserrat"/>
                <a:ea typeface="Montserrat"/>
                <a:cs typeface="Montserrat"/>
                <a:sym typeface="Montserrat"/>
              </a:rPr>
              <a:t>Key Results</a:t>
            </a:r>
            <a:endParaRPr sz="1000">
              <a:solidFill>
                <a:srgbClr val="073763"/>
              </a:solidFill>
              <a:latin typeface="Montserrat"/>
              <a:ea typeface="Montserrat"/>
              <a:cs typeface="Montserrat"/>
              <a:sym typeface="Montserrat"/>
            </a:endParaRPr>
          </a:p>
          <a:p>
            <a:pPr indent="0" lvl="0" marL="0" rtl="0" algn="l">
              <a:lnSpc>
                <a:spcPct val="115000"/>
              </a:lnSpc>
              <a:spcBef>
                <a:spcPts val="0"/>
              </a:spcBef>
              <a:spcAft>
                <a:spcPts val="0"/>
              </a:spcAft>
              <a:buNone/>
            </a:pPr>
            <a:r>
              <a:rPr lang="en-GB" sz="1100">
                <a:solidFill>
                  <a:srgbClr val="073763"/>
                </a:solidFill>
                <a:latin typeface="Montserrat"/>
                <a:ea typeface="Montserrat"/>
                <a:cs typeface="Montserrat"/>
                <a:sym typeface="Montserrat"/>
              </a:rPr>
              <a:t>Attention-based models produced </a:t>
            </a:r>
            <a:r>
              <a:rPr b="1" lang="en-GB" sz="1100">
                <a:solidFill>
                  <a:srgbClr val="073763"/>
                </a:solidFill>
                <a:latin typeface="Montserrat"/>
                <a:ea typeface="Montserrat"/>
                <a:cs typeface="Montserrat"/>
                <a:sym typeface="Montserrat"/>
              </a:rPr>
              <a:t>more accurate translations</a:t>
            </a:r>
            <a:r>
              <a:rPr lang="en-GB" sz="1100">
                <a:solidFill>
                  <a:srgbClr val="073763"/>
                </a:solidFill>
                <a:latin typeface="Montserrat"/>
                <a:ea typeface="Montserrat"/>
                <a:cs typeface="Montserrat"/>
                <a:sym typeface="Montserrat"/>
              </a:rPr>
              <a:t>, especially for </a:t>
            </a:r>
            <a:r>
              <a:rPr b="1" lang="en-GB" sz="1100">
                <a:solidFill>
                  <a:srgbClr val="073763"/>
                </a:solidFill>
                <a:latin typeface="Montserrat"/>
                <a:ea typeface="Montserrat"/>
                <a:cs typeface="Montserrat"/>
                <a:sym typeface="Montserrat"/>
              </a:rPr>
              <a:t>long and complex sentences</a:t>
            </a:r>
            <a:endParaRPr sz="10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000">
                <a:solidFill>
                  <a:srgbClr val="073763"/>
                </a:solidFill>
                <a:latin typeface="Montserrat"/>
                <a:ea typeface="Montserrat"/>
                <a:cs typeface="Montserrat"/>
                <a:sym typeface="Montserrat"/>
              </a:rPr>
              <a:t>Conclusion</a:t>
            </a:r>
            <a:br>
              <a:rPr b="1" lang="en-GB" sz="10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 Allowing the model to “pay attention” during translation significantly improves performance and reduces information loss.</a:t>
            </a:r>
            <a:endParaRPr sz="10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000">
                <a:solidFill>
                  <a:srgbClr val="073763"/>
                </a:solidFill>
                <a:latin typeface="Montserrat"/>
                <a:ea typeface="Montserrat"/>
                <a:cs typeface="Montserrat"/>
                <a:sym typeface="Montserrat"/>
              </a:rPr>
              <a:t>Future Scope</a:t>
            </a:r>
            <a:br>
              <a:rPr b="1" lang="en-GB" sz="10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Applying attention to other NLP tasks like summarization, question answering, and document understanding</a:t>
            </a:r>
            <a:endParaRPr sz="10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000">
                <a:solidFill>
                  <a:srgbClr val="073763"/>
                </a:solidFill>
                <a:latin typeface="Montserrat"/>
                <a:ea typeface="Montserrat"/>
                <a:cs typeface="Montserrat"/>
                <a:sym typeface="Montserrat"/>
              </a:rPr>
              <a:t>Relevance to Our Project (RAG &amp; Agentic AI)</a:t>
            </a:r>
            <a:endParaRPr b="1" sz="1000">
              <a:solidFill>
                <a:srgbClr val="073763"/>
              </a:solidFill>
              <a:latin typeface="Montserrat"/>
              <a:ea typeface="Montserrat"/>
              <a:cs typeface="Montserrat"/>
              <a:sym typeface="Montserrat"/>
            </a:endParaRPr>
          </a:p>
          <a:p>
            <a:pPr indent="0" lvl="0" marL="0" rtl="0" algn="l">
              <a:lnSpc>
                <a:spcPct val="115000"/>
              </a:lnSpc>
              <a:spcBef>
                <a:spcPts val="0"/>
              </a:spcBef>
              <a:spcAft>
                <a:spcPts val="1200"/>
              </a:spcAft>
              <a:buNone/>
            </a:pPr>
            <a:r>
              <a:rPr lang="en-GB" sz="1100">
                <a:solidFill>
                  <a:srgbClr val="073763"/>
                </a:solidFill>
                <a:latin typeface="Montserrat"/>
                <a:ea typeface="Montserrat"/>
                <a:cs typeface="Montserrat"/>
                <a:sym typeface="Montserrat"/>
              </a:rPr>
              <a:t>Attention helps AI systems </a:t>
            </a:r>
            <a:r>
              <a:rPr b="1" lang="en-GB" sz="1100">
                <a:solidFill>
                  <a:srgbClr val="073763"/>
                </a:solidFill>
                <a:latin typeface="Montserrat"/>
                <a:ea typeface="Montserrat"/>
                <a:cs typeface="Montserrat"/>
                <a:sym typeface="Montserrat"/>
              </a:rPr>
              <a:t>focus on the most relevant information</a:t>
            </a:r>
            <a:r>
              <a:rPr lang="en-GB" sz="1100">
                <a:solidFill>
                  <a:srgbClr val="073763"/>
                </a:solidFill>
                <a:latin typeface="Montserrat"/>
                <a:ea typeface="Montserrat"/>
                <a:cs typeface="Montserrat"/>
                <a:sym typeface="Montserrat"/>
              </a:rPr>
              <a:t>, which is essential for document retrieval, reasoning, and personalized recommendations.</a:t>
            </a:r>
            <a:endParaRPr b="1" sz="1000">
              <a:solidFill>
                <a:srgbClr val="073763"/>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 name="Shape 137"/>
        <p:cNvGrpSpPr/>
        <p:nvPr/>
      </p:nvGrpSpPr>
      <p:grpSpPr>
        <a:xfrm>
          <a:off x="0" y="0"/>
          <a:ext cx="0" cy="0"/>
          <a:chOff x="0" y="0"/>
          <a:chExt cx="0" cy="0"/>
        </a:xfrm>
      </p:grpSpPr>
      <p:sp>
        <p:nvSpPr>
          <p:cNvPr id="138" name="Google Shape;138;p28"/>
          <p:cNvSpPr txBox="1"/>
          <p:nvPr>
            <p:ph type="title"/>
          </p:nvPr>
        </p:nvSpPr>
        <p:spPr>
          <a:xfrm>
            <a:off x="311700" y="30895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SemiBold"/>
                <a:ea typeface="Montserrat SemiBold"/>
                <a:cs typeface="Montserrat SemiBold"/>
                <a:sym typeface="Montserrat SemiBold"/>
              </a:rPr>
              <a:t>Literature Summary #4 </a:t>
            </a:r>
            <a:r>
              <a:rPr i="1" lang="en-GB" sz="2022" u="sng">
                <a:solidFill>
                  <a:srgbClr val="0000FF"/>
                </a:solidFill>
                <a:latin typeface="Montserrat SemiBold"/>
                <a:ea typeface="Montserrat SemiBold"/>
                <a:cs typeface="Montserrat SemiBold"/>
                <a:sym typeface="Montserrat SemiBold"/>
                <a:hlinkClick r:id="rId3">
                  <a:extLst>
                    <a:ext uri="{A12FA001-AC4F-418D-AE19-62706E023703}">
                      <ahyp:hlinkClr val="tx"/>
                    </a:ext>
                  </a:extLst>
                </a:hlinkClick>
              </a:rPr>
              <a:t>(Agentic AI: Reasoning &amp; Ac</a:t>
            </a:r>
            <a:r>
              <a:rPr i="1" lang="en-GB" sz="2022" u="sng">
                <a:solidFill>
                  <a:srgbClr val="0000FF"/>
                </a:solidFill>
                <a:latin typeface="Montserrat SemiBold"/>
                <a:ea typeface="Montserrat SemiBold"/>
                <a:cs typeface="Montserrat SemiBold"/>
                <a:sym typeface="Montserrat SemiBold"/>
                <a:hlinkClick r:id="rId4">
                  <a:extLst>
                    <a:ext uri="{A12FA001-AC4F-418D-AE19-62706E023703}">
                      <ahyp:hlinkClr val="tx"/>
                    </a:ext>
                  </a:extLst>
                </a:hlinkClick>
              </a:rPr>
              <a:t>ti</a:t>
            </a:r>
            <a:r>
              <a:rPr i="1" lang="en-GB" sz="2022" u="sng">
                <a:solidFill>
                  <a:srgbClr val="0000FF"/>
                </a:solidFill>
                <a:latin typeface="Montserrat SemiBold"/>
                <a:ea typeface="Montserrat SemiBold"/>
                <a:cs typeface="Montserrat SemiBold"/>
                <a:sym typeface="Montserrat SemiBold"/>
              </a:rPr>
              <a:t>ng)</a:t>
            </a:r>
            <a:endParaRPr>
              <a:latin typeface="Montserrat SemiBold"/>
              <a:ea typeface="Montserrat SemiBold"/>
              <a:cs typeface="Montserrat SemiBold"/>
              <a:sym typeface="Montserrat SemiBold"/>
            </a:endParaRPr>
          </a:p>
        </p:txBody>
      </p:sp>
      <p:sp>
        <p:nvSpPr>
          <p:cNvPr id="139" name="Google Shape;139;p28"/>
          <p:cNvSpPr txBox="1"/>
          <p:nvPr>
            <p:ph idx="1" type="body"/>
          </p:nvPr>
        </p:nvSpPr>
        <p:spPr>
          <a:xfrm>
            <a:off x="311700" y="1063475"/>
            <a:ext cx="4260300" cy="39486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Problem Addressed</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Traditional language models either </a:t>
            </a:r>
            <a:r>
              <a:rPr b="1" lang="en-GB" sz="1100">
                <a:solidFill>
                  <a:srgbClr val="073763"/>
                </a:solidFill>
                <a:latin typeface="Montserrat"/>
                <a:ea typeface="Montserrat"/>
                <a:cs typeface="Montserrat"/>
                <a:sym typeface="Montserrat"/>
              </a:rPr>
              <a:t>reason internally</a:t>
            </a:r>
            <a:r>
              <a:rPr lang="en-GB" sz="1100">
                <a:solidFill>
                  <a:srgbClr val="073763"/>
                </a:solidFill>
                <a:latin typeface="Montserrat"/>
                <a:ea typeface="Montserrat"/>
                <a:cs typeface="Montserrat"/>
                <a:sym typeface="Montserrat"/>
              </a:rPr>
              <a:t> or </a:t>
            </a:r>
            <a:r>
              <a:rPr b="1" lang="en-GB" sz="1100">
                <a:solidFill>
                  <a:srgbClr val="073763"/>
                </a:solidFill>
                <a:latin typeface="Montserrat"/>
                <a:ea typeface="Montserrat"/>
                <a:cs typeface="Montserrat"/>
                <a:sym typeface="Montserrat"/>
              </a:rPr>
              <a:t>take actions</a:t>
            </a:r>
            <a:r>
              <a:rPr lang="en-GB" sz="1100">
                <a:solidFill>
                  <a:srgbClr val="073763"/>
                </a:solidFill>
                <a:latin typeface="Montserrat"/>
                <a:ea typeface="Montserrat"/>
                <a:cs typeface="Montserrat"/>
                <a:sym typeface="Montserrat"/>
              </a:rPr>
              <a:t>, but not both together, which limits their ability to solve complex, real-world tasks.</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Method Used</a:t>
            </a:r>
            <a:endParaRPr b="1" sz="1100">
              <a:solidFill>
                <a:srgbClr val="073763"/>
              </a:solidFill>
              <a:latin typeface="Montserrat"/>
              <a:ea typeface="Montserrat"/>
              <a:cs typeface="Montserrat"/>
              <a:sym typeface="Montserrat"/>
            </a:endParaRPr>
          </a:p>
          <a:p>
            <a:pPr indent="0" lvl="0" marL="0" rtl="0" algn="l">
              <a:spcBef>
                <a:spcPts val="0"/>
              </a:spcBef>
              <a:spcAft>
                <a:spcPts val="0"/>
              </a:spcAft>
              <a:buNone/>
            </a:pPr>
            <a:r>
              <a:rPr lang="en-GB" sz="1100">
                <a:solidFill>
                  <a:srgbClr val="073763"/>
                </a:solidFill>
                <a:latin typeface="Montserrat"/>
                <a:ea typeface="Montserrat"/>
                <a:cs typeface="Montserrat"/>
                <a:sym typeface="Montserrat"/>
              </a:rPr>
              <a:t>The paper introduces </a:t>
            </a:r>
            <a:r>
              <a:rPr b="1" lang="en-GB" sz="1100">
                <a:solidFill>
                  <a:srgbClr val="073763"/>
                </a:solidFill>
                <a:latin typeface="Montserrat"/>
                <a:ea typeface="Montserrat"/>
                <a:cs typeface="Montserrat"/>
                <a:sym typeface="Montserrat"/>
              </a:rPr>
              <a:t>ReAct</a:t>
            </a:r>
            <a:r>
              <a:rPr lang="en-GB" sz="1100">
                <a:solidFill>
                  <a:srgbClr val="073763"/>
                </a:solidFill>
                <a:latin typeface="Montserrat"/>
                <a:ea typeface="Montserrat"/>
                <a:cs typeface="Montserrat"/>
                <a:sym typeface="Montserrat"/>
              </a:rPr>
              <a:t>, a framework that combines </a:t>
            </a:r>
            <a:r>
              <a:rPr b="1" lang="en-GB" sz="1100">
                <a:solidFill>
                  <a:srgbClr val="073763"/>
                </a:solidFill>
                <a:latin typeface="Montserrat"/>
                <a:ea typeface="Montserrat"/>
                <a:cs typeface="Montserrat"/>
                <a:sym typeface="Montserrat"/>
              </a:rPr>
              <a:t>reasoning steps (thinking)</a:t>
            </a:r>
            <a:r>
              <a:rPr lang="en-GB" sz="1100">
                <a:solidFill>
                  <a:srgbClr val="073763"/>
                </a:solidFill>
                <a:latin typeface="Montserrat"/>
                <a:ea typeface="Montserrat"/>
                <a:cs typeface="Montserrat"/>
                <a:sym typeface="Montserrat"/>
              </a:rPr>
              <a:t> with </a:t>
            </a:r>
            <a:r>
              <a:rPr b="1" lang="en-GB" sz="1100">
                <a:solidFill>
                  <a:srgbClr val="073763"/>
                </a:solidFill>
                <a:latin typeface="Montserrat"/>
                <a:ea typeface="Montserrat"/>
                <a:cs typeface="Montserrat"/>
                <a:sym typeface="Montserrat"/>
              </a:rPr>
              <a:t>actions (tool use or environment interaction)</a:t>
            </a:r>
            <a:r>
              <a:rPr lang="en-GB" sz="1100">
                <a:solidFill>
                  <a:srgbClr val="073763"/>
                </a:solidFill>
                <a:latin typeface="Montserrat"/>
                <a:ea typeface="Montserrat"/>
                <a:cs typeface="Montserrat"/>
                <a:sym typeface="Montserrat"/>
              </a:rPr>
              <a:t>. The model alternates between </a:t>
            </a:r>
            <a:r>
              <a:rPr b="1" lang="en-GB" sz="1100">
                <a:solidFill>
                  <a:srgbClr val="073763"/>
                </a:solidFill>
                <a:latin typeface="Montserrat"/>
                <a:ea typeface="Montserrat"/>
                <a:cs typeface="Montserrat"/>
                <a:sym typeface="Montserrat"/>
              </a:rPr>
              <a:t>thinking out loud</a:t>
            </a:r>
            <a:r>
              <a:rPr lang="en-GB" sz="1100">
                <a:solidFill>
                  <a:srgbClr val="073763"/>
                </a:solidFill>
                <a:latin typeface="Montserrat"/>
                <a:ea typeface="Montserrat"/>
                <a:cs typeface="Montserrat"/>
                <a:sym typeface="Montserrat"/>
              </a:rPr>
              <a:t> (reasoning) and </a:t>
            </a:r>
            <a:r>
              <a:rPr b="1" lang="en-GB" sz="1100">
                <a:solidFill>
                  <a:srgbClr val="073763"/>
                </a:solidFill>
                <a:latin typeface="Montserrat"/>
                <a:ea typeface="Montserrat"/>
                <a:cs typeface="Montserrat"/>
                <a:sym typeface="Montserrat"/>
              </a:rPr>
              <a:t>taking actions</a:t>
            </a:r>
            <a:r>
              <a:rPr lang="en-GB" sz="1100">
                <a:solidFill>
                  <a:srgbClr val="073763"/>
                </a:solidFill>
                <a:latin typeface="Montserrat"/>
                <a:ea typeface="Montserrat"/>
                <a:cs typeface="Montserrat"/>
                <a:sym typeface="Montserrat"/>
              </a:rPr>
              <a:t> such as searching, retrieving information, or querying tools.</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Tasks</a:t>
            </a:r>
            <a:r>
              <a:rPr b="1" lang="en-GB" sz="1100">
                <a:solidFill>
                  <a:srgbClr val="073763"/>
                </a:solidFill>
                <a:latin typeface="Montserrat"/>
                <a:ea typeface="Montserrat"/>
                <a:cs typeface="Montserrat"/>
                <a:sym typeface="Montserrat"/>
              </a:rPr>
              <a:t> Used</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Evaluated on tasks like </a:t>
            </a:r>
            <a:r>
              <a:rPr b="1" lang="en-GB" sz="1100">
                <a:solidFill>
                  <a:srgbClr val="073763"/>
                </a:solidFill>
                <a:latin typeface="Montserrat"/>
                <a:ea typeface="Montserrat"/>
                <a:cs typeface="Montserrat"/>
                <a:sym typeface="Montserrat"/>
              </a:rPr>
              <a:t>question answering, decision making, and interactive environments</a:t>
            </a:r>
            <a:r>
              <a:rPr lang="en-GB" sz="1100">
                <a:solidFill>
                  <a:srgbClr val="073763"/>
                </a:solidFill>
                <a:latin typeface="Montserrat"/>
                <a:ea typeface="Montserrat"/>
                <a:cs typeface="Montserrat"/>
                <a:sym typeface="Montserrat"/>
              </a:rPr>
              <a:t> that require multiple steps</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Training &amp; Evaluation</a:t>
            </a:r>
            <a:endParaRPr b="1" sz="1100">
              <a:solidFill>
                <a:srgbClr val="073763"/>
              </a:solidFill>
              <a:latin typeface="Montserrat"/>
              <a:ea typeface="Montserrat"/>
              <a:cs typeface="Montserrat"/>
              <a:sym typeface="Montserrat"/>
            </a:endParaRPr>
          </a:p>
          <a:p>
            <a:pPr indent="0" lvl="0" marL="0" rtl="0" algn="l">
              <a:spcBef>
                <a:spcPts val="0"/>
              </a:spcBef>
              <a:spcAft>
                <a:spcPts val="1200"/>
              </a:spcAft>
              <a:buNone/>
            </a:pPr>
            <a:r>
              <a:rPr lang="en-GB" sz="1100">
                <a:solidFill>
                  <a:srgbClr val="073763"/>
                </a:solidFill>
                <a:latin typeface="Montserrat"/>
                <a:ea typeface="Montserrat"/>
                <a:cs typeface="Montserrat"/>
                <a:sym typeface="Montserrat"/>
              </a:rPr>
              <a:t>Used </a:t>
            </a:r>
            <a:r>
              <a:rPr b="1" lang="en-GB" sz="1100">
                <a:solidFill>
                  <a:srgbClr val="073763"/>
                </a:solidFill>
                <a:latin typeface="Montserrat"/>
                <a:ea typeface="Montserrat"/>
                <a:cs typeface="Montserrat"/>
                <a:sym typeface="Montserrat"/>
              </a:rPr>
              <a:t>prompt-based learning</a:t>
            </a:r>
            <a:r>
              <a:rPr lang="en-GB" sz="1100">
                <a:solidFill>
                  <a:srgbClr val="073763"/>
                </a:solidFill>
                <a:latin typeface="Montserrat"/>
                <a:ea typeface="Montserrat"/>
                <a:cs typeface="Montserrat"/>
                <a:sym typeface="Montserrat"/>
              </a:rPr>
              <a:t> (no heavy retraining) and evaluated using </a:t>
            </a:r>
            <a:r>
              <a:rPr b="1" lang="en-GB" sz="1100">
                <a:solidFill>
                  <a:srgbClr val="073763"/>
                </a:solidFill>
                <a:latin typeface="Montserrat"/>
                <a:ea typeface="Montserrat"/>
                <a:cs typeface="Montserrat"/>
                <a:sym typeface="Montserrat"/>
              </a:rPr>
              <a:t>task success and accuracy metrics</a:t>
            </a:r>
            <a:r>
              <a:rPr lang="en-GB" sz="1100">
                <a:solidFill>
                  <a:srgbClr val="073763"/>
                </a:solidFill>
                <a:latin typeface="Montserrat"/>
                <a:ea typeface="Montserrat"/>
                <a:cs typeface="Montserrat"/>
                <a:sym typeface="Montserrat"/>
              </a:rPr>
              <a:t>.</a:t>
            </a:r>
            <a:endParaRPr b="1" sz="1100">
              <a:solidFill>
                <a:srgbClr val="073763"/>
              </a:solidFill>
              <a:latin typeface="Montserrat"/>
              <a:ea typeface="Montserrat"/>
              <a:cs typeface="Montserrat"/>
              <a:sym typeface="Montserrat"/>
            </a:endParaRPr>
          </a:p>
        </p:txBody>
      </p:sp>
      <p:sp>
        <p:nvSpPr>
          <p:cNvPr id="140" name="Google Shape;140;p28"/>
          <p:cNvSpPr txBox="1"/>
          <p:nvPr/>
        </p:nvSpPr>
        <p:spPr>
          <a:xfrm>
            <a:off x="4809125" y="1076823"/>
            <a:ext cx="3927000" cy="39216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100">
                <a:solidFill>
                  <a:srgbClr val="073763"/>
                </a:solidFill>
                <a:latin typeface="Montserrat"/>
                <a:ea typeface="Montserrat"/>
                <a:cs typeface="Montserrat"/>
                <a:sym typeface="Montserrat"/>
              </a:rPr>
              <a:t>Key Results</a:t>
            </a:r>
            <a:endParaRPr sz="1100">
              <a:solidFill>
                <a:srgbClr val="073763"/>
              </a:solidFill>
              <a:latin typeface="Montserrat"/>
              <a:ea typeface="Montserrat"/>
              <a:cs typeface="Montserrat"/>
              <a:sym typeface="Montserrat"/>
            </a:endParaRPr>
          </a:p>
          <a:p>
            <a:pPr indent="0" lvl="0" marL="0" rtl="0" algn="l">
              <a:lnSpc>
                <a:spcPct val="115000"/>
              </a:lnSpc>
              <a:spcBef>
                <a:spcPts val="0"/>
              </a:spcBef>
              <a:spcAft>
                <a:spcPts val="0"/>
              </a:spcAft>
              <a:buNone/>
            </a:pPr>
            <a:r>
              <a:rPr lang="en-GB" sz="1100">
                <a:solidFill>
                  <a:srgbClr val="073763"/>
                </a:solidFill>
                <a:latin typeface="Montserrat"/>
                <a:ea typeface="Montserrat"/>
                <a:cs typeface="Montserrat"/>
                <a:sym typeface="Montserrat"/>
              </a:rPr>
              <a:t>ReAct outperformed models that only reason or only act, especially on </a:t>
            </a:r>
            <a:r>
              <a:rPr b="1" lang="en-GB" sz="1100">
                <a:solidFill>
                  <a:srgbClr val="073763"/>
                </a:solidFill>
                <a:latin typeface="Montserrat"/>
                <a:ea typeface="Montserrat"/>
                <a:cs typeface="Montserrat"/>
                <a:sym typeface="Montserrat"/>
              </a:rPr>
              <a:t>multi-step and knowledge-intensive tasks</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Conclusion</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Combining reasoning and actions makes AI systems </a:t>
            </a:r>
            <a:r>
              <a:rPr b="1" lang="en-GB" sz="1100">
                <a:solidFill>
                  <a:srgbClr val="073763"/>
                </a:solidFill>
                <a:latin typeface="Montserrat"/>
                <a:ea typeface="Montserrat"/>
                <a:cs typeface="Montserrat"/>
                <a:sym typeface="Montserrat"/>
              </a:rPr>
              <a:t>more reliable, interpretable, and effective</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Future Scope</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Better tool integration, longer reasoning chains, and more autonomous AI agents</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Relevance to Our Project (RAG &amp; Agentic AI)</a:t>
            </a:r>
            <a:endParaRPr b="1" sz="1100">
              <a:solidFill>
                <a:srgbClr val="073763"/>
              </a:solidFill>
              <a:latin typeface="Montserrat"/>
              <a:ea typeface="Montserrat"/>
              <a:cs typeface="Montserrat"/>
              <a:sym typeface="Montserrat"/>
            </a:endParaRPr>
          </a:p>
          <a:p>
            <a:pPr indent="0" lvl="0" marL="0" rtl="0" algn="l">
              <a:lnSpc>
                <a:spcPct val="115000"/>
              </a:lnSpc>
              <a:spcBef>
                <a:spcPts val="0"/>
              </a:spcBef>
              <a:spcAft>
                <a:spcPts val="1200"/>
              </a:spcAft>
              <a:buNone/>
            </a:pPr>
            <a:r>
              <a:rPr lang="en-GB" sz="1100">
                <a:solidFill>
                  <a:srgbClr val="073763"/>
                </a:solidFill>
                <a:latin typeface="Montserrat"/>
                <a:ea typeface="Montserrat"/>
                <a:cs typeface="Montserrat"/>
                <a:sym typeface="Montserrat"/>
              </a:rPr>
              <a:t>ReAct directly supports </a:t>
            </a:r>
            <a:r>
              <a:rPr b="1" lang="en-GB" sz="1100">
                <a:solidFill>
                  <a:srgbClr val="073763"/>
                </a:solidFill>
                <a:latin typeface="Montserrat"/>
                <a:ea typeface="Montserrat"/>
                <a:cs typeface="Montserrat"/>
                <a:sym typeface="Montserrat"/>
              </a:rPr>
              <a:t>Agentic AI</a:t>
            </a:r>
            <a:r>
              <a:rPr lang="en-GB" sz="1100">
                <a:solidFill>
                  <a:srgbClr val="073763"/>
                </a:solidFill>
                <a:latin typeface="Montserrat"/>
                <a:ea typeface="Montserrat"/>
                <a:cs typeface="Montserrat"/>
                <a:sym typeface="Montserrat"/>
              </a:rPr>
              <a:t>, where agents reason, retrieve information (RAG), and take actions to generate better recommendations</a:t>
            </a:r>
            <a:endParaRPr b="1" sz="1100">
              <a:solidFill>
                <a:srgbClr val="073763"/>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 name="Shape 144"/>
        <p:cNvGrpSpPr/>
        <p:nvPr/>
      </p:nvGrpSpPr>
      <p:grpSpPr>
        <a:xfrm>
          <a:off x="0" y="0"/>
          <a:ext cx="0" cy="0"/>
          <a:chOff x="0" y="0"/>
          <a:chExt cx="0" cy="0"/>
        </a:xfrm>
      </p:grpSpPr>
      <p:sp>
        <p:nvSpPr>
          <p:cNvPr id="145" name="Google Shape;145;p29"/>
          <p:cNvSpPr txBox="1"/>
          <p:nvPr>
            <p:ph type="title"/>
          </p:nvPr>
        </p:nvSpPr>
        <p:spPr>
          <a:xfrm>
            <a:off x="311700" y="30895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SemiBold"/>
                <a:ea typeface="Montserrat SemiBold"/>
                <a:cs typeface="Montserrat SemiBold"/>
                <a:sym typeface="Montserrat SemiBold"/>
              </a:rPr>
              <a:t>Literature Summary #5 </a:t>
            </a:r>
            <a:r>
              <a:rPr lang="en-GB" u="sng">
                <a:solidFill>
                  <a:srgbClr val="0000FF"/>
                </a:solidFill>
                <a:latin typeface="Montserrat SemiBold"/>
                <a:ea typeface="Montserrat SemiBold"/>
                <a:cs typeface="Montserrat SemiBold"/>
                <a:sym typeface="Montserrat SemiBold"/>
              </a:rPr>
              <a:t>(</a:t>
            </a:r>
            <a:r>
              <a:rPr i="1" lang="en-GB" sz="2022" u="sng">
                <a:solidFill>
                  <a:srgbClr val="0000FF"/>
                </a:solidFill>
                <a:latin typeface="Montserrat SemiBold"/>
                <a:ea typeface="Montserrat SemiBold"/>
                <a:cs typeface="Montserrat SemiBold"/>
                <a:sym typeface="Montserrat SemiBold"/>
                <a:hlinkClick r:id="rId3">
                  <a:extLst>
                    <a:ext uri="{A12FA001-AC4F-418D-AE19-62706E023703}">
                      <ahyp:hlinkClr val="tx"/>
                    </a:ext>
                  </a:extLst>
                </a:hlinkClick>
              </a:rPr>
              <a:t>Summarize + RHLF</a:t>
            </a:r>
            <a:r>
              <a:rPr lang="en-GB" u="sng">
                <a:solidFill>
                  <a:srgbClr val="0000FF"/>
                </a:solidFill>
                <a:latin typeface="Montserrat SemiBold"/>
                <a:ea typeface="Montserrat SemiBold"/>
                <a:cs typeface="Montserrat SemiBold"/>
                <a:sym typeface="Montserrat SemiBold"/>
              </a:rPr>
              <a:t>)</a:t>
            </a:r>
            <a:endParaRPr u="sng">
              <a:solidFill>
                <a:srgbClr val="0000FF"/>
              </a:solidFill>
              <a:latin typeface="Montserrat SemiBold"/>
              <a:ea typeface="Montserrat SemiBold"/>
              <a:cs typeface="Montserrat SemiBold"/>
              <a:sym typeface="Montserrat SemiBold"/>
            </a:endParaRPr>
          </a:p>
        </p:txBody>
      </p:sp>
      <p:sp>
        <p:nvSpPr>
          <p:cNvPr id="146" name="Google Shape;146;p29"/>
          <p:cNvSpPr txBox="1"/>
          <p:nvPr>
            <p:ph idx="1" type="body"/>
          </p:nvPr>
        </p:nvSpPr>
        <p:spPr>
          <a:xfrm>
            <a:off x="311700" y="1063475"/>
            <a:ext cx="4260300" cy="39486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Problem Addressed</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Traditional text summarization models often produce summaries that are </a:t>
            </a:r>
            <a:r>
              <a:rPr b="1" lang="en-GB" sz="1100">
                <a:solidFill>
                  <a:srgbClr val="073763"/>
                </a:solidFill>
                <a:latin typeface="Montserrat"/>
                <a:ea typeface="Montserrat"/>
                <a:cs typeface="Montserrat"/>
                <a:sym typeface="Montserrat"/>
              </a:rPr>
              <a:t>factually incorrect, repetitive, or misaligned with human expectations</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Method Used</a:t>
            </a:r>
            <a:endParaRPr b="1" sz="1100">
              <a:solidFill>
                <a:srgbClr val="073763"/>
              </a:solidFill>
              <a:latin typeface="Montserrat"/>
              <a:ea typeface="Montserrat"/>
              <a:cs typeface="Montserrat"/>
              <a:sym typeface="Montserrat"/>
            </a:endParaRPr>
          </a:p>
          <a:p>
            <a:pPr indent="0" lvl="0" marL="0" rtl="0" algn="l">
              <a:spcBef>
                <a:spcPts val="0"/>
              </a:spcBef>
              <a:spcAft>
                <a:spcPts val="0"/>
              </a:spcAft>
              <a:buNone/>
            </a:pPr>
            <a:r>
              <a:rPr lang="en-GB" sz="1100">
                <a:solidFill>
                  <a:srgbClr val="073763"/>
                </a:solidFill>
                <a:latin typeface="Montserrat"/>
                <a:ea typeface="Montserrat"/>
                <a:cs typeface="Montserrat"/>
                <a:sym typeface="Montserrat"/>
              </a:rPr>
              <a:t>The paper introduces </a:t>
            </a:r>
            <a:r>
              <a:rPr b="1" lang="en-GB" sz="1100">
                <a:solidFill>
                  <a:srgbClr val="073763"/>
                </a:solidFill>
                <a:latin typeface="Montserrat"/>
                <a:ea typeface="Montserrat"/>
                <a:cs typeface="Montserrat"/>
                <a:sym typeface="Montserrat"/>
              </a:rPr>
              <a:t>training with human feedback</a:t>
            </a:r>
            <a:r>
              <a:rPr lang="en-GB" sz="1100">
                <a:solidFill>
                  <a:srgbClr val="073763"/>
                </a:solidFill>
                <a:latin typeface="Montserrat"/>
                <a:ea typeface="Montserrat"/>
                <a:cs typeface="Montserrat"/>
                <a:sym typeface="Montserrat"/>
              </a:rPr>
              <a:t>, where humans compare summaries and indicate which one is better.The model first generates multiple summaries.Human preferences are used to teach the model </a:t>
            </a:r>
            <a:r>
              <a:rPr b="1" lang="en-GB" sz="1100">
                <a:solidFill>
                  <a:srgbClr val="073763"/>
                </a:solidFill>
                <a:latin typeface="Montserrat"/>
                <a:ea typeface="Montserrat"/>
                <a:cs typeface="Montserrat"/>
                <a:sym typeface="Montserrat"/>
              </a:rPr>
              <a:t>what a good summary looks like</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Data Used</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Large collections of </a:t>
            </a:r>
            <a:r>
              <a:rPr b="1" lang="en-GB" sz="1100">
                <a:solidFill>
                  <a:srgbClr val="073763"/>
                </a:solidFill>
                <a:latin typeface="Montserrat"/>
                <a:ea typeface="Montserrat"/>
                <a:cs typeface="Montserrat"/>
                <a:sym typeface="Montserrat"/>
              </a:rPr>
              <a:t>articles and their summaries</a:t>
            </a:r>
            <a:r>
              <a:rPr lang="en-GB" sz="1100">
                <a:solidFill>
                  <a:srgbClr val="073763"/>
                </a:solidFill>
                <a:latin typeface="Montserrat"/>
                <a:ea typeface="Montserrat"/>
                <a:cs typeface="Montserrat"/>
                <a:sym typeface="Montserrat"/>
              </a:rPr>
              <a:t>, along with </a:t>
            </a:r>
            <a:r>
              <a:rPr b="1" lang="en-GB" sz="1100">
                <a:solidFill>
                  <a:srgbClr val="073763"/>
                </a:solidFill>
                <a:latin typeface="Montserrat"/>
                <a:ea typeface="Montserrat"/>
                <a:cs typeface="Montserrat"/>
                <a:sym typeface="Montserrat"/>
              </a:rPr>
              <a:t>human comparison labels</a:t>
            </a:r>
            <a:r>
              <a:rPr lang="en-GB" sz="1100">
                <a:solidFill>
                  <a:srgbClr val="073763"/>
                </a:solidFill>
                <a:latin typeface="Montserrat"/>
                <a:ea typeface="Montserrat"/>
                <a:cs typeface="Montserrat"/>
                <a:sym typeface="Montserrat"/>
              </a:rPr>
              <a:t>.</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Training &amp; Evaluation</a:t>
            </a:r>
            <a:endParaRPr b="1" sz="1100">
              <a:solidFill>
                <a:srgbClr val="073763"/>
              </a:solidFill>
              <a:latin typeface="Montserrat"/>
              <a:ea typeface="Montserrat"/>
              <a:cs typeface="Montserrat"/>
              <a:sym typeface="Montserrat"/>
            </a:endParaRPr>
          </a:p>
          <a:p>
            <a:pPr indent="0" lvl="0" marL="0" rtl="0" algn="l">
              <a:spcBef>
                <a:spcPts val="0"/>
              </a:spcBef>
              <a:spcAft>
                <a:spcPts val="1200"/>
              </a:spcAft>
              <a:buNone/>
            </a:pPr>
            <a:r>
              <a:rPr lang="en-GB" sz="1100">
                <a:solidFill>
                  <a:srgbClr val="073763"/>
                </a:solidFill>
                <a:latin typeface="Montserrat"/>
                <a:ea typeface="Montserrat"/>
                <a:cs typeface="Montserrat"/>
                <a:sym typeface="Montserrat"/>
              </a:rPr>
              <a:t>The model is trained using a </a:t>
            </a:r>
            <a:r>
              <a:rPr b="1" lang="en-GB" sz="1100">
                <a:solidFill>
                  <a:srgbClr val="073763"/>
                </a:solidFill>
                <a:latin typeface="Montserrat"/>
                <a:ea typeface="Montserrat"/>
                <a:cs typeface="Montserrat"/>
                <a:sym typeface="Montserrat"/>
              </a:rPr>
              <a:t>reward model based on human feedback</a:t>
            </a:r>
            <a:r>
              <a:rPr lang="en-GB" sz="1100">
                <a:solidFill>
                  <a:srgbClr val="073763"/>
                </a:solidFill>
                <a:latin typeface="Montserrat"/>
                <a:ea typeface="Montserrat"/>
                <a:cs typeface="Montserrat"/>
                <a:sym typeface="Montserrat"/>
              </a:rPr>
              <a:t> and evaluated on summary quality and human preference scores</a:t>
            </a:r>
            <a:endParaRPr b="1" sz="1100">
              <a:solidFill>
                <a:srgbClr val="073763"/>
              </a:solidFill>
              <a:latin typeface="Montserrat"/>
              <a:ea typeface="Montserrat"/>
              <a:cs typeface="Montserrat"/>
              <a:sym typeface="Montserrat"/>
            </a:endParaRPr>
          </a:p>
        </p:txBody>
      </p:sp>
      <p:sp>
        <p:nvSpPr>
          <p:cNvPr id="147" name="Google Shape;147;p29"/>
          <p:cNvSpPr txBox="1"/>
          <p:nvPr/>
        </p:nvSpPr>
        <p:spPr>
          <a:xfrm>
            <a:off x="4809125" y="1076823"/>
            <a:ext cx="3927000" cy="39216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100">
                <a:solidFill>
                  <a:srgbClr val="073763"/>
                </a:solidFill>
                <a:latin typeface="Montserrat"/>
                <a:ea typeface="Montserrat"/>
                <a:cs typeface="Montserrat"/>
                <a:sym typeface="Montserrat"/>
              </a:rPr>
              <a:t>Key Results</a:t>
            </a:r>
            <a:endParaRPr sz="1100">
              <a:solidFill>
                <a:srgbClr val="073763"/>
              </a:solidFill>
              <a:latin typeface="Montserrat"/>
              <a:ea typeface="Montserrat"/>
              <a:cs typeface="Montserrat"/>
              <a:sym typeface="Montserrat"/>
            </a:endParaRPr>
          </a:p>
          <a:p>
            <a:pPr indent="0" lvl="0" marL="0" rtl="0" algn="l">
              <a:lnSpc>
                <a:spcPct val="115000"/>
              </a:lnSpc>
              <a:spcBef>
                <a:spcPts val="0"/>
              </a:spcBef>
              <a:spcAft>
                <a:spcPts val="0"/>
              </a:spcAft>
              <a:buNone/>
            </a:pPr>
            <a:r>
              <a:rPr lang="en-GB" sz="1100">
                <a:solidFill>
                  <a:srgbClr val="073763"/>
                </a:solidFill>
                <a:latin typeface="Montserrat"/>
                <a:ea typeface="Montserrat"/>
                <a:cs typeface="Montserrat"/>
                <a:sym typeface="Montserrat"/>
              </a:rPr>
              <a:t>Models trained with human feedback produced </a:t>
            </a:r>
            <a:r>
              <a:rPr b="1" lang="en-GB" sz="1100">
                <a:solidFill>
                  <a:srgbClr val="073763"/>
                </a:solidFill>
                <a:latin typeface="Montserrat"/>
                <a:ea typeface="Montserrat"/>
                <a:cs typeface="Montserrat"/>
                <a:sym typeface="Montserrat"/>
              </a:rPr>
              <a:t>clearer, more accurate, and more human-like summaries</a:t>
            </a:r>
            <a:r>
              <a:rPr lang="en-GB" sz="1100">
                <a:solidFill>
                  <a:srgbClr val="073763"/>
                </a:solidFill>
                <a:latin typeface="Montserrat"/>
                <a:ea typeface="Montserrat"/>
                <a:cs typeface="Montserrat"/>
                <a:sym typeface="Montserrat"/>
              </a:rPr>
              <a:t> than standard models</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Conclusion</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Human feedback significantly improves alignment between AI outputs and </a:t>
            </a:r>
            <a:r>
              <a:rPr b="1" lang="en-GB" sz="1100">
                <a:solidFill>
                  <a:srgbClr val="073763"/>
                </a:solidFill>
                <a:latin typeface="Montserrat"/>
                <a:ea typeface="Montserrat"/>
                <a:cs typeface="Montserrat"/>
                <a:sym typeface="Montserrat"/>
              </a:rPr>
              <a:t>human expectations</a:t>
            </a:r>
            <a:r>
              <a:rPr lang="en-GB" sz="1100">
                <a:solidFill>
                  <a:srgbClr val="073763"/>
                </a:solidFill>
                <a:latin typeface="Montserrat"/>
                <a:ea typeface="Montserrat"/>
                <a:cs typeface="Montserrat"/>
                <a:sym typeface="Montserrat"/>
              </a:rPr>
              <a:t>.</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Future Scope</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Applying human feedback to other tasks like dialogue systems, reasoning, and decision-making agents</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Relevance to Our Project (RAG &amp; Agentic AI)</a:t>
            </a:r>
            <a:endParaRPr b="1" sz="1100">
              <a:solidFill>
                <a:srgbClr val="073763"/>
              </a:solidFill>
              <a:latin typeface="Montserrat"/>
              <a:ea typeface="Montserrat"/>
              <a:cs typeface="Montserrat"/>
              <a:sym typeface="Montserrat"/>
            </a:endParaRPr>
          </a:p>
          <a:p>
            <a:pPr indent="0" lvl="0" marL="0" rtl="0" algn="l">
              <a:lnSpc>
                <a:spcPct val="115000"/>
              </a:lnSpc>
              <a:spcBef>
                <a:spcPts val="0"/>
              </a:spcBef>
              <a:spcAft>
                <a:spcPts val="1200"/>
              </a:spcAft>
              <a:buNone/>
            </a:pPr>
            <a:r>
              <a:rPr lang="en-GB" sz="1100">
                <a:solidFill>
                  <a:srgbClr val="073763"/>
                </a:solidFill>
                <a:latin typeface="Montserrat"/>
                <a:ea typeface="Montserrat"/>
                <a:cs typeface="Montserrat"/>
                <a:sym typeface="Montserrat"/>
              </a:rPr>
              <a:t>Human feedback can help improve </a:t>
            </a:r>
            <a:r>
              <a:rPr b="1" lang="en-GB" sz="1100">
                <a:solidFill>
                  <a:srgbClr val="073763"/>
                </a:solidFill>
                <a:latin typeface="Montserrat"/>
                <a:ea typeface="Montserrat"/>
                <a:cs typeface="Montserrat"/>
                <a:sym typeface="Montserrat"/>
              </a:rPr>
              <a:t>recommendation quality, relevance, and trustworthiness</a:t>
            </a:r>
            <a:r>
              <a:rPr lang="en-GB" sz="1100">
                <a:solidFill>
                  <a:srgbClr val="073763"/>
                </a:solidFill>
                <a:latin typeface="Montserrat"/>
                <a:ea typeface="Montserrat"/>
                <a:cs typeface="Montserrat"/>
                <a:sym typeface="Montserrat"/>
              </a:rPr>
              <a:t> in RAG-based agent systems.</a:t>
            </a:r>
            <a:endParaRPr b="1" sz="1100">
              <a:solidFill>
                <a:srgbClr val="073763"/>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 name="Shape 151"/>
        <p:cNvGrpSpPr/>
        <p:nvPr/>
      </p:nvGrpSpPr>
      <p:grpSpPr>
        <a:xfrm>
          <a:off x="0" y="0"/>
          <a:ext cx="0" cy="0"/>
          <a:chOff x="0" y="0"/>
          <a:chExt cx="0" cy="0"/>
        </a:xfrm>
      </p:grpSpPr>
      <p:sp>
        <p:nvSpPr>
          <p:cNvPr id="152" name="Google Shape;152;p30"/>
          <p:cNvSpPr txBox="1"/>
          <p:nvPr>
            <p:ph type="title"/>
          </p:nvPr>
        </p:nvSpPr>
        <p:spPr>
          <a:xfrm>
            <a:off x="311700" y="30895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Montserrat SemiBold"/>
                <a:ea typeface="Montserrat SemiBold"/>
                <a:cs typeface="Montserrat SemiBold"/>
                <a:sym typeface="Montserrat SemiBold"/>
              </a:rPr>
              <a:t>Literature Summary #6 </a:t>
            </a:r>
            <a:r>
              <a:rPr i="1" lang="en-GB" sz="2022" u="sng">
                <a:solidFill>
                  <a:srgbClr val="0000FF"/>
                </a:solidFill>
                <a:latin typeface="Montserrat SemiBold"/>
                <a:ea typeface="Montserrat SemiBold"/>
                <a:cs typeface="Montserrat SemiBold"/>
                <a:sym typeface="Montserrat SemiBold"/>
                <a:hlinkClick r:id="rId3">
                  <a:extLst>
                    <a:ext uri="{A12FA001-AC4F-418D-AE19-62706E023703}">
                      <ahyp:hlinkClr val="tx"/>
                    </a:ext>
                  </a:extLst>
                </a:hlinkClick>
              </a:rPr>
              <a:t>(E-commerce - Sentiment Analysis)</a:t>
            </a:r>
            <a:endParaRPr i="1" sz="2022">
              <a:solidFill>
                <a:srgbClr val="0000FF"/>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a:latin typeface="Montserrat SemiBold"/>
              <a:ea typeface="Montserrat SemiBold"/>
              <a:cs typeface="Montserrat SemiBold"/>
              <a:sym typeface="Montserrat SemiBold"/>
            </a:endParaRPr>
          </a:p>
        </p:txBody>
      </p:sp>
      <p:sp>
        <p:nvSpPr>
          <p:cNvPr id="153" name="Google Shape;153;p30"/>
          <p:cNvSpPr txBox="1"/>
          <p:nvPr>
            <p:ph idx="1" type="body"/>
          </p:nvPr>
        </p:nvSpPr>
        <p:spPr>
          <a:xfrm>
            <a:off x="311700" y="1063475"/>
            <a:ext cx="4260300" cy="39486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Problem Addressed</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Existing sentiment analysis models struggle with </a:t>
            </a:r>
            <a:r>
              <a:rPr b="1" lang="en-GB" sz="1100">
                <a:solidFill>
                  <a:srgbClr val="073763"/>
                </a:solidFill>
                <a:latin typeface="Montserrat"/>
                <a:ea typeface="Montserrat"/>
                <a:cs typeface="Montserrat"/>
                <a:sym typeface="Montserrat"/>
              </a:rPr>
              <a:t>long, complex reviews</a:t>
            </a:r>
            <a:r>
              <a:rPr lang="en-GB" sz="1100">
                <a:solidFill>
                  <a:srgbClr val="073763"/>
                </a:solidFill>
                <a:latin typeface="Montserrat"/>
                <a:ea typeface="Montserrat"/>
                <a:cs typeface="Montserrat"/>
                <a:sym typeface="Montserrat"/>
              </a:rPr>
              <a:t>, varied writing styles, and </a:t>
            </a:r>
            <a:r>
              <a:rPr b="1" lang="en-GB" sz="1100">
                <a:solidFill>
                  <a:srgbClr val="073763"/>
                </a:solidFill>
                <a:latin typeface="Montserrat"/>
                <a:ea typeface="Montserrat"/>
                <a:cs typeface="Montserrat"/>
                <a:sym typeface="Montserrat"/>
              </a:rPr>
              <a:t>irrelevant words</a:t>
            </a:r>
            <a:r>
              <a:rPr lang="en-GB" sz="1100">
                <a:solidFill>
                  <a:srgbClr val="073763"/>
                </a:solidFill>
                <a:latin typeface="Montserrat"/>
                <a:ea typeface="Montserrat"/>
                <a:cs typeface="Montserrat"/>
                <a:sym typeface="Montserrat"/>
              </a:rPr>
              <a:t>, leading to inaccurate sentiment predictions</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Method Used</a:t>
            </a:r>
            <a:endParaRPr b="1" sz="1100">
              <a:solidFill>
                <a:srgbClr val="073763"/>
              </a:solidFill>
              <a:latin typeface="Montserrat"/>
              <a:ea typeface="Montserrat"/>
              <a:cs typeface="Montserrat"/>
              <a:sym typeface="Montserrat"/>
            </a:endParaRPr>
          </a:p>
          <a:p>
            <a:pPr indent="0" lvl="0" marL="0" rtl="0" algn="l">
              <a:spcBef>
                <a:spcPts val="0"/>
              </a:spcBef>
              <a:spcAft>
                <a:spcPts val="0"/>
              </a:spcAft>
              <a:buNone/>
            </a:pPr>
            <a:r>
              <a:rPr lang="en-GB" sz="1100">
                <a:solidFill>
                  <a:srgbClr val="073763"/>
                </a:solidFill>
                <a:latin typeface="Montserrat"/>
                <a:ea typeface="Montserrat"/>
                <a:cs typeface="Montserrat"/>
                <a:sym typeface="Montserrat"/>
              </a:rPr>
              <a:t>Proposes a </a:t>
            </a:r>
            <a:r>
              <a:rPr b="1" lang="en-GB" sz="1100">
                <a:solidFill>
                  <a:srgbClr val="073763"/>
                </a:solidFill>
                <a:latin typeface="Montserrat"/>
                <a:ea typeface="Montserrat"/>
                <a:cs typeface="Montserrat"/>
                <a:sym typeface="Montserrat"/>
              </a:rPr>
              <a:t>hybrid deep learning model (EGJO-LSTM)</a:t>
            </a:r>
            <a:r>
              <a:rPr lang="en-GB" sz="1100">
                <a:solidFill>
                  <a:srgbClr val="073763"/>
                </a:solidFill>
                <a:latin typeface="Montserrat"/>
                <a:ea typeface="Montserrat"/>
                <a:cs typeface="Montserrat"/>
                <a:sym typeface="Montserrat"/>
              </a:rPr>
              <a:t> combining optimization techniques with LSTM for better learning and classification.Customer reviews are cleaned, important words are given more weight, irrelevant features are removed, and the final sentiment is predicted using the optimized LSTM model.</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Data Used</a:t>
            </a:r>
            <a:br>
              <a:rPr b="1" lang="en-GB" sz="1100">
                <a:solidFill>
                  <a:srgbClr val="073763"/>
                </a:solidFill>
                <a:latin typeface="Montserrat"/>
                <a:ea typeface="Montserrat"/>
                <a:cs typeface="Montserrat"/>
                <a:sym typeface="Montserrat"/>
              </a:rPr>
            </a:br>
            <a:r>
              <a:rPr b="1" lang="en-GB" sz="1100">
                <a:solidFill>
                  <a:srgbClr val="073763"/>
                </a:solidFill>
                <a:latin typeface="Montserrat"/>
                <a:ea typeface="Montserrat"/>
                <a:cs typeface="Montserrat"/>
                <a:sym typeface="Montserrat"/>
              </a:rPr>
              <a:t>Amazon e-commerce product reviews</a:t>
            </a:r>
            <a:r>
              <a:rPr lang="en-GB" sz="1100">
                <a:solidFill>
                  <a:srgbClr val="073763"/>
                </a:solidFill>
                <a:latin typeface="Montserrat"/>
                <a:ea typeface="Montserrat"/>
                <a:cs typeface="Montserrat"/>
                <a:sym typeface="Montserrat"/>
              </a:rPr>
              <a:t>, collected using web scraping</a:t>
            </a:r>
            <a:endParaRPr sz="1100">
              <a:solidFill>
                <a:srgbClr val="073763"/>
              </a:solidFill>
              <a:latin typeface="Montserrat"/>
              <a:ea typeface="Montserrat"/>
              <a:cs typeface="Montserrat"/>
              <a:sym typeface="Montserrat"/>
            </a:endParaRPr>
          </a:p>
          <a:p>
            <a:pPr indent="0" lvl="0" marL="0" rtl="0" algn="l">
              <a:spcBef>
                <a:spcPts val="1200"/>
              </a:spcBef>
              <a:spcAft>
                <a:spcPts val="0"/>
              </a:spcAft>
              <a:buNone/>
            </a:pPr>
            <a:r>
              <a:rPr b="1" lang="en-GB" sz="1100">
                <a:solidFill>
                  <a:srgbClr val="073763"/>
                </a:solidFill>
                <a:latin typeface="Montserrat"/>
                <a:ea typeface="Montserrat"/>
                <a:cs typeface="Montserrat"/>
                <a:sym typeface="Montserrat"/>
              </a:rPr>
              <a:t>Training &amp; Evaluation</a:t>
            </a:r>
            <a:endParaRPr b="1" sz="1100">
              <a:solidFill>
                <a:srgbClr val="073763"/>
              </a:solidFill>
              <a:latin typeface="Montserrat"/>
              <a:ea typeface="Montserrat"/>
              <a:cs typeface="Montserrat"/>
              <a:sym typeface="Montserrat"/>
            </a:endParaRPr>
          </a:p>
          <a:p>
            <a:pPr indent="0" lvl="0" marL="0" rtl="0" algn="l">
              <a:spcBef>
                <a:spcPts val="0"/>
              </a:spcBef>
              <a:spcAft>
                <a:spcPts val="1200"/>
              </a:spcAft>
              <a:buNone/>
            </a:pPr>
            <a:r>
              <a:rPr lang="en-GB" sz="1100">
                <a:solidFill>
                  <a:srgbClr val="073763"/>
                </a:solidFill>
                <a:latin typeface="Montserrat"/>
                <a:ea typeface="Montserrat"/>
                <a:cs typeface="Montserrat"/>
                <a:sym typeface="Montserrat"/>
              </a:rPr>
              <a:t>Model performance is evaluated using </a:t>
            </a:r>
            <a:r>
              <a:rPr b="1" lang="en-GB" sz="1100">
                <a:solidFill>
                  <a:srgbClr val="073763"/>
                </a:solidFill>
                <a:latin typeface="Montserrat"/>
                <a:ea typeface="Montserrat"/>
                <a:cs typeface="Montserrat"/>
                <a:sym typeface="Montserrat"/>
              </a:rPr>
              <a:t>accuracy, precision, recall, and F1-score</a:t>
            </a:r>
            <a:r>
              <a:rPr lang="en-GB" sz="1100">
                <a:solidFill>
                  <a:srgbClr val="073763"/>
                </a:solidFill>
                <a:latin typeface="Montserrat"/>
                <a:ea typeface="Montserrat"/>
                <a:cs typeface="Montserrat"/>
                <a:sym typeface="Montserrat"/>
              </a:rPr>
              <a:t>.</a:t>
            </a:r>
            <a:endParaRPr b="1" sz="1100">
              <a:solidFill>
                <a:srgbClr val="073763"/>
              </a:solidFill>
              <a:latin typeface="Montserrat"/>
              <a:ea typeface="Montserrat"/>
              <a:cs typeface="Montserrat"/>
              <a:sym typeface="Montserrat"/>
            </a:endParaRPr>
          </a:p>
        </p:txBody>
      </p:sp>
      <p:sp>
        <p:nvSpPr>
          <p:cNvPr id="154" name="Google Shape;154;p30"/>
          <p:cNvSpPr txBox="1"/>
          <p:nvPr/>
        </p:nvSpPr>
        <p:spPr>
          <a:xfrm>
            <a:off x="4809125" y="1076823"/>
            <a:ext cx="3927000" cy="3921600"/>
          </a:xfrm>
          <a:prstGeom prst="rect">
            <a:avLst/>
          </a:prstGeom>
          <a:solidFill>
            <a:schemeClr val="lt2"/>
          </a:solid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100">
                <a:solidFill>
                  <a:srgbClr val="073763"/>
                </a:solidFill>
                <a:latin typeface="Montserrat"/>
                <a:ea typeface="Montserrat"/>
                <a:cs typeface="Montserrat"/>
                <a:sym typeface="Montserrat"/>
              </a:rPr>
              <a:t>Key Results</a:t>
            </a:r>
            <a:endParaRPr sz="1100">
              <a:solidFill>
                <a:srgbClr val="073763"/>
              </a:solidFill>
              <a:latin typeface="Montserrat"/>
              <a:ea typeface="Montserrat"/>
              <a:cs typeface="Montserrat"/>
              <a:sym typeface="Montserrat"/>
            </a:endParaRPr>
          </a:p>
          <a:p>
            <a:pPr indent="0" lvl="0" marL="0" rtl="0" algn="l">
              <a:lnSpc>
                <a:spcPct val="115000"/>
              </a:lnSpc>
              <a:spcBef>
                <a:spcPts val="0"/>
              </a:spcBef>
              <a:spcAft>
                <a:spcPts val="0"/>
              </a:spcAft>
              <a:buNone/>
            </a:pPr>
            <a:r>
              <a:rPr lang="en-GB" sz="1100">
                <a:solidFill>
                  <a:srgbClr val="073763"/>
                </a:solidFill>
                <a:latin typeface="Montserrat"/>
                <a:ea typeface="Montserrat"/>
                <a:cs typeface="Montserrat"/>
                <a:sym typeface="Montserrat"/>
              </a:rPr>
              <a:t>Achieved </a:t>
            </a:r>
            <a:r>
              <a:rPr b="1" lang="en-GB" sz="1100">
                <a:solidFill>
                  <a:srgbClr val="073763"/>
                </a:solidFill>
                <a:latin typeface="Montserrat"/>
                <a:ea typeface="Montserrat"/>
                <a:cs typeface="Montserrat"/>
                <a:sym typeface="Montserrat"/>
              </a:rPr>
              <a:t>32% improvement in accuracy</a:t>
            </a:r>
            <a:r>
              <a:rPr lang="en-GB" sz="1100">
                <a:solidFill>
                  <a:srgbClr val="073763"/>
                </a:solidFill>
                <a:latin typeface="Montserrat"/>
                <a:ea typeface="Montserrat"/>
                <a:cs typeface="Montserrat"/>
                <a:sym typeface="Montserrat"/>
              </a:rPr>
              <a:t> and </a:t>
            </a:r>
            <a:r>
              <a:rPr b="1" lang="en-GB" sz="1100">
                <a:solidFill>
                  <a:srgbClr val="073763"/>
                </a:solidFill>
                <a:latin typeface="Montserrat"/>
                <a:ea typeface="Montserrat"/>
                <a:cs typeface="Montserrat"/>
                <a:sym typeface="Montserrat"/>
              </a:rPr>
              <a:t>25% improvement in precision</a:t>
            </a:r>
            <a:r>
              <a:rPr lang="en-GB" sz="1100">
                <a:solidFill>
                  <a:srgbClr val="073763"/>
                </a:solidFill>
                <a:latin typeface="Montserrat"/>
                <a:ea typeface="Montserrat"/>
                <a:cs typeface="Montserrat"/>
                <a:sym typeface="Montserrat"/>
              </a:rPr>
              <a:t>, outperforming traditional and hybrid sentiment models</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Conclusion</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Optimized feature weighting and selection significantly improve sentiment classification performance in real-world reviews.</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Future Scope</a:t>
            </a:r>
            <a:br>
              <a:rPr b="1" lang="en-GB" sz="1100">
                <a:solidFill>
                  <a:srgbClr val="073763"/>
                </a:solidFill>
                <a:latin typeface="Montserrat"/>
                <a:ea typeface="Montserrat"/>
                <a:cs typeface="Montserrat"/>
                <a:sym typeface="Montserrat"/>
              </a:rPr>
            </a:br>
            <a:r>
              <a:rPr lang="en-GB" sz="1100">
                <a:solidFill>
                  <a:srgbClr val="073763"/>
                </a:solidFill>
                <a:latin typeface="Montserrat"/>
                <a:ea typeface="Montserrat"/>
                <a:cs typeface="Montserrat"/>
                <a:sym typeface="Montserrat"/>
              </a:rPr>
              <a:t> Can be extended to other review platforms and customer feedback systems</a:t>
            </a:r>
            <a:endParaRPr sz="1100">
              <a:solidFill>
                <a:srgbClr val="073763"/>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n-GB" sz="1100">
                <a:solidFill>
                  <a:srgbClr val="073763"/>
                </a:solidFill>
                <a:latin typeface="Montserrat"/>
                <a:ea typeface="Montserrat"/>
                <a:cs typeface="Montserrat"/>
                <a:sym typeface="Montserrat"/>
              </a:rPr>
              <a:t>Relevance to Our Project (RAG &amp; Agentic AI)</a:t>
            </a:r>
            <a:endParaRPr b="1" sz="1100">
              <a:solidFill>
                <a:srgbClr val="073763"/>
              </a:solidFill>
              <a:latin typeface="Montserrat"/>
              <a:ea typeface="Montserrat"/>
              <a:cs typeface="Montserrat"/>
              <a:sym typeface="Montserrat"/>
            </a:endParaRPr>
          </a:p>
          <a:p>
            <a:pPr indent="0" lvl="0" marL="0" rtl="0" algn="l">
              <a:lnSpc>
                <a:spcPct val="115000"/>
              </a:lnSpc>
              <a:spcBef>
                <a:spcPts val="0"/>
              </a:spcBef>
              <a:spcAft>
                <a:spcPts val="1200"/>
              </a:spcAft>
              <a:buNone/>
            </a:pPr>
            <a:r>
              <a:rPr lang="en-GB" sz="1100">
                <a:solidFill>
                  <a:srgbClr val="073763"/>
                </a:solidFill>
                <a:latin typeface="Montserrat"/>
                <a:ea typeface="Montserrat"/>
                <a:cs typeface="Montserrat"/>
                <a:sym typeface="Montserrat"/>
              </a:rPr>
              <a:t>Sentiment insights can improve </a:t>
            </a:r>
            <a:r>
              <a:rPr b="1" lang="en-GB" sz="1100">
                <a:solidFill>
                  <a:srgbClr val="073763"/>
                </a:solidFill>
                <a:latin typeface="Montserrat"/>
                <a:ea typeface="Montserrat"/>
                <a:cs typeface="Montserrat"/>
                <a:sym typeface="Montserrat"/>
              </a:rPr>
              <a:t>recommendation relevance</a:t>
            </a:r>
            <a:r>
              <a:rPr lang="en-GB" sz="1100">
                <a:solidFill>
                  <a:srgbClr val="073763"/>
                </a:solidFill>
                <a:latin typeface="Montserrat"/>
                <a:ea typeface="Montserrat"/>
                <a:cs typeface="Montserrat"/>
                <a:sym typeface="Montserrat"/>
              </a:rPr>
              <a:t>, user trust, and decision-making in AI-driven recommendation agents</a:t>
            </a:r>
            <a:endParaRPr b="1" sz="1100">
              <a:solidFill>
                <a:srgbClr val="073763"/>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 name="Shape 158"/>
        <p:cNvGrpSpPr/>
        <p:nvPr/>
      </p:nvGrpSpPr>
      <p:grpSpPr>
        <a:xfrm>
          <a:off x="0" y="0"/>
          <a:ext cx="0" cy="0"/>
          <a:chOff x="0" y="0"/>
          <a:chExt cx="0" cy="0"/>
        </a:xfrm>
      </p:grpSpPr>
      <p:sp>
        <p:nvSpPr>
          <p:cNvPr id="159" name="Google Shape;159;p31"/>
          <p:cNvSpPr txBox="1"/>
          <p:nvPr>
            <p:ph type="title"/>
          </p:nvPr>
        </p:nvSpPr>
        <p:spPr>
          <a:xfrm>
            <a:off x="311700" y="35965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160" name="Google Shape;160;p31"/>
          <p:cNvSpPr/>
          <p:nvPr/>
        </p:nvSpPr>
        <p:spPr>
          <a:xfrm>
            <a:off x="385525" y="1103100"/>
            <a:ext cx="3810000" cy="3819900"/>
          </a:xfrm>
          <a:prstGeom prst="roundRect">
            <a:avLst>
              <a:gd fmla="val 396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br>
              <a:rPr b="1" lang="en-GB" sz="1100">
                <a:solidFill>
                  <a:schemeClr val="dk1"/>
                </a:solidFill>
              </a:rPr>
            </a:br>
            <a:r>
              <a:rPr b="1" lang="en-GB" sz="1100">
                <a:solidFill>
                  <a:schemeClr val="dk1"/>
                </a:solidFill>
              </a:rPr>
              <a:t>** </a:t>
            </a:r>
            <a:r>
              <a:rPr b="1" lang="en-GB" sz="1100">
                <a:solidFill>
                  <a:schemeClr val="dk1"/>
                </a:solidFill>
              </a:rPr>
              <a:t>December</a:t>
            </a:r>
            <a:r>
              <a:rPr b="1" lang="en-GB" sz="1100">
                <a:solidFill>
                  <a:schemeClr val="dk1"/>
                </a:solidFill>
              </a:rPr>
              <a:t> / Week ) is dedicated for Literature Review </a:t>
            </a:r>
            <a:br>
              <a:rPr b="1" lang="en-GB" sz="1100">
                <a:solidFill>
                  <a:schemeClr val="dk1"/>
                </a:solidFill>
              </a:rPr>
            </a:br>
            <a:endParaRPr b="1" sz="1100">
              <a:solidFill>
                <a:schemeClr val="dk1"/>
              </a:solidFill>
            </a:endParaRPr>
          </a:p>
          <a:p>
            <a:pPr indent="0" lvl="0" marL="0" rtl="0" algn="l">
              <a:spcBef>
                <a:spcPts val="0"/>
              </a:spcBef>
              <a:spcAft>
                <a:spcPts val="0"/>
              </a:spcAft>
              <a:buClr>
                <a:schemeClr val="dk1"/>
              </a:buClr>
              <a:buSzPts val="1100"/>
              <a:buFont typeface="Arial"/>
              <a:buNone/>
            </a:pPr>
            <a:r>
              <a:rPr b="1" lang="en-GB" sz="1100">
                <a:solidFill>
                  <a:schemeClr val="dk1"/>
                </a:solidFill>
              </a:rPr>
              <a:t>Weeks 1–2:</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Dataset acquisition (select category, collect reviews &amp; metadata)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Preprocessing &amp; cleaning (text normalization, missing values, duplicates)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Weeks 3–4:</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Build retrieval index (vector + keyword)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Prototype summariser for product documents &amp; reviews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Weeks 5–6:</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Build recommendation engine (embedding + rating model)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Integrate recommendation with retrieval pipeline</a:t>
            </a:r>
            <a:endParaRPr sz="1100">
              <a:solidFill>
                <a:schemeClr val="dk1"/>
              </a:solidFill>
            </a:endParaRPr>
          </a:p>
        </p:txBody>
      </p:sp>
      <p:sp>
        <p:nvSpPr>
          <p:cNvPr id="161" name="Google Shape;161;p31"/>
          <p:cNvSpPr/>
          <p:nvPr/>
        </p:nvSpPr>
        <p:spPr>
          <a:xfrm>
            <a:off x="4889500" y="1152075"/>
            <a:ext cx="4014000" cy="3819900"/>
          </a:xfrm>
          <a:prstGeom prst="roundRect">
            <a:avLst>
              <a:gd fmla="val 424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1100">
                <a:solidFill>
                  <a:schemeClr val="dk1"/>
                </a:solidFill>
              </a:rPr>
              <a:t>Weeks 7–8:</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Build query clustering module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Create admin dashboard mockup (visualize clusters &amp; themes)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Weeks 9–10:</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Build sentiment &amp; satisfaction analytics pipeline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Connect analytics to dashboard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Weeks 11–12:</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Build web UI/UX demo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Simulate user feedback loop</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Evaluation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Write final report &amp; presentation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